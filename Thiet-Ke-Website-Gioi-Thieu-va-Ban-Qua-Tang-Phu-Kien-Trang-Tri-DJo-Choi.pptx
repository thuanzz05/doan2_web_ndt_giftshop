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5"/>
  </p:notesMasterIdLst>
  <p:handoutMasterIdLst>
    <p:handoutMasterId r:id="rId16"/>
  </p:handoutMasterIdLst>
  <p:sldIdLst>
    <p:sldId id="269" r:id="rId2"/>
    <p:sldId id="257" r:id="rId3"/>
    <p:sldId id="258" r:id="rId4"/>
    <p:sldId id="259" r:id="rId5"/>
    <p:sldId id="260" r:id="rId6"/>
    <p:sldId id="261" r:id="rId7"/>
    <p:sldId id="267" r:id="rId8"/>
    <p:sldId id="262" r:id="rId9"/>
    <p:sldId id="263" r:id="rId10"/>
    <p:sldId id="268" r:id="rId11"/>
    <p:sldId id="264" r:id="rId12"/>
    <p:sldId id="265" r:id="rId13"/>
    <p:sldId id="266" r:id="rId14"/>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723AF7-898E-EEB6-A15C-08F4BFC0E520}"/>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6178B65-CC39-45B7-6158-0907E9398B64}"/>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E8EACB5A-A771-4DA2-9BC4-DB7CFD47DD58}" type="datetimeFigureOut">
              <a:rPr lang="en-US" smtClean="0"/>
              <a:t>12/17/2025</a:t>
            </a:fld>
            <a:endParaRPr lang="en-US"/>
          </a:p>
        </p:txBody>
      </p:sp>
      <p:sp>
        <p:nvSpPr>
          <p:cNvPr id="4" name="Footer Placeholder 3">
            <a:extLst>
              <a:ext uri="{FF2B5EF4-FFF2-40B4-BE49-F238E27FC236}">
                <a16:creationId xmlns:a16="http://schemas.microsoft.com/office/drawing/2014/main" id="{CC8D6677-4302-CE53-7AD4-12BB62035563}"/>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6D4C605-4F25-060A-EE13-753E061A2366}"/>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C63175B6-2060-4AF8-8F09-D845A555640E}" type="slidenum">
              <a:rPr lang="en-US" smtClean="0"/>
              <a:t>‹#›</a:t>
            </a:fld>
            <a:endParaRPr lang="en-US"/>
          </a:p>
        </p:txBody>
      </p:sp>
    </p:spTree>
    <p:extLst>
      <p:ext uri="{BB962C8B-B14F-4D97-AF65-F5344CB8AC3E}">
        <p14:creationId xmlns:p14="http://schemas.microsoft.com/office/powerpoint/2010/main" val="3980048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748566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F75A0-947F-99A5-2CE5-9614E09BD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5547D-19D3-8CE4-D6B2-B43F688E1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13903-798C-1EB3-1236-8A0B27532B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D5C00B-988F-CA24-3957-970924D33EF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65184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793D1-37A9-F351-65A8-88E7B10DF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DA9D6-6EA2-CCAD-81D3-049CC09B2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0982A-1452-91A7-F251-EBA49B337B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199556-7C39-4095-CBC5-788A07A8559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18193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F50FD-3818-E82A-730F-2298F250B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C1F0F-FFE8-6EC7-08EA-8E206C03CB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4353E4-86AF-D141-CF5A-F17E5F9B24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F6AE20-1C18-F1A0-FC78-879114B11C4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66268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84B1-A808-8DD8-2AF9-0C5822C49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BDAEC-DDE5-D374-AA14-3AEA398F2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FF547-6D04-2012-A304-3570E63B33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EBC143-8B07-4AC0-2425-B780EA1290F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857288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6005-638D-7D25-362B-23B1EECC2A52}"/>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3BFB89CB-81A2-1908-DAD6-0CFEFFFAF900}"/>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5A0E2A7C-D480-830C-CA95-1F08F353A02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B5BA081-81D9-D16B-E3EA-EC2D498862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3099F0-ED0F-ED51-3372-668B9F78BD65}"/>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239705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1FD6-7FF1-9BD9-3184-E59ED6DAF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48FCF5-AA1A-29BF-6569-B2E8F713D7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83542F-25A5-DDED-82FB-082E0E31AC9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B7C764-C44C-0A7C-A151-4EEF0C0BCF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C0BC0-8C04-8696-B0E8-E9A159BAF0AD}"/>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1070311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44A5B-3572-82A7-3372-724D9608CD45}"/>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F8E19535-6AE7-767C-BC1A-995D42F60E0F}"/>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A2302F-EDE7-8909-5E40-D813F13D0F7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B60241E-FCFE-7FDA-A2A5-7CE88B53D1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68FDCE-7AB7-ADB6-0687-8E32AA8814D6}"/>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1974712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080A-9977-D628-599A-F7DFC3812C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374A9A-255D-087C-9346-BC3AC2C1B21C}"/>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33778B-EC65-F41B-BAE0-454199396A83}"/>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50EC6-1811-7323-DEFF-397376A2586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410CCA3-15E5-60C3-F0A4-5CCB6BAA3F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C27F79-46D3-6C26-98BE-41216E22832A}"/>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202097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E86C9-7F5B-B374-99A0-A4442409F0CE}"/>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96DF90-7960-282E-4805-5B77E327B019}"/>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674C6BB0-E562-C66E-2EB8-755CDDAAF0DE}"/>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BA1E77-71E1-41E6-5AB2-4CB20638ACC7}"/>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F9D2CA1F-83E9-E24F-00DD-07E7B9EFCE8E}"/>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766A7D-9229-012C-FEE0-C6279E308E64}"/>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4A592FB-ADE1-997D-13FC-00F9528543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EAA16-55E7-BCDB-1FF6-79CB903D4B83}"/>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3841374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96AD1-56BC-2FA4-F247-498710B6D1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A626F0-68BD-4DAE-B230-6AAC510A1B3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8A3EFCB-BD6C-F9F6-79CF-F1DDFC7D95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D8E8DB-3BA9-C79B-18E2-F91659E12345}"/>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1958228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B3CAF-B230-79C4-F71F-2A107C0FC4C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82764409-2F83-677E-9F61-A997FAD54C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53B956-A78B-949E-89F4-1662E3D55FC2}"/>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123489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37B70-97F7-0F2B-CCDF-68C602245F2D}"/>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F93041CD-99A1-1F0F-E623-91F840455557}"/>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9B41A9-FBE8-2F25-53AB-48BCDE090CDE}"/>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067791B0-5BD6-DA91-975D-2D07FF1DB5E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35506E9-6A37-0F3F-6930-FB7FEF0505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3C25E-3EA0-84F0-29FD-EF5458C51F6C}"/>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3926327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EBD04-0498-9D02-C085-F8A35B7F229E}"/>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AFA3FABE-8314-5E1B-3FB2-BBBA9C2E50D0}"/>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8D2F71CD-45DB-E008-11C6-45A7E859CFED}"/>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6E048477-C3F0-9D04-E860-48579BDFF80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9E16E69-B280-4615-E42F-1A7F2431CE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B021C-69F3-34B1-1179-CF121E8D11D5}"/>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1530854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5E523-3B82-3D1B-5EEA-A7470FA95D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06AAD9-863B-6E3A-B4D1-5974E75181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4693E7-9C4F-F2A5-66C7-0119700603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CD5166F-F471-E22A-21FA-595253BC30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2A9730-C292-305D-7D3C-FB9BFA7FB9AE}"/>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3201217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DE3272-1B4A-6E82-404B-841A9EC733F2}"/>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95E49E-FBA6-1E3E-4361-916B09A29F47}"/>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E63A31-A095-F53E-900E-9D714371EC8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2CE99A7-8DD7-22F8-F36E-F12387086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67B56-1651-D39C-E101-E9A514277D54}"/>
              </a:ext>
            </a:extLst>
          </p:cNvPr>
          <p:cNvSpPr>
            <a:spLocks noGrp="1"/>
          </p:cNvSpPr>
          <p:nvPr>
            <p:ph type="sldNum" sz="quarter" idx="12"/>
          </p:nvPr>
        </p:nvSpPr>
        <p:spPr/>
        <p:txBody>
          <a:bodyPr/>
          <a:lstStyle/>
          <a:p>
            <a:fld id="{B9AC597B-2CEB-4705-8D74-687BDB8338B1}" type="slidenum">
              <a:rPr lang="en-US" smtClean="0"/>
              <a:t>‹#›</a:t>
            </a:fld>
            <a:endParaRPr lang="en-US"/>
          </a:p>
        </p:txBody>
      </p:sp>
    </p:spTree>
    <p:extLst>
      <p:ext uri="{BB962C8B-B14F-4D97-AF65-F5344CB8AC3E}">
        <p14:creationId xmlns:p14="http://schemas.microsoft.com/office/powerpoint/2010/main" val="2456207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0996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039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4792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4011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73972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6936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5931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748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9337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079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95A473-ABDE-57B5-599F-063E7867DB05}"/>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98A5E1-460C-FC45-882D-AA4A27B4BAF0}"/>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DF20AF-19CD-388B-CC13-0F7127D9477D}"/>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C0344A26-320F-D6DD-C515-8EE21F9E1473}"/>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72147E-AF72-4126-1715-714D0836A802}"/>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B9AC597B-2CEB-4705-8D74-687BDB8338B1}" type="slidenum">
              <a:rPr lang="en-US" smtClean="0"/>
              <a:t>‹#›</a:t>
            </a:fld>
            <a:endParaRPr lang="en-US" dirty="0"/>
          </a:p>
        </p:txBody>
      </p:sp>
    </p:spTree>
    <p:extLst>
      <p:ext uri="{BB962C8B-B14F-4D97-AF65-F5344CB8AC3E}">
        <p14:creationId xmlns:p14="http://schemas.microsoft.com/office/powerpoint/2010/main" val="1893116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notesSlide" Target="../notesSlides/notesSlide3.xml"/><Relationship Id="rId16" Type="http://schemas.openxmlformats.org/officeDocument/2006/relationships/image" Target="../media/image16.png"/><Relationship Id="rId20" Type="http://schemas.openxmlformats.org/officeDocument/2006/relationships/image" Target="../media/image20.svg"/><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sv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sv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5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3BEF-241B-01ED-AF54-EBF36F7D2EC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D8DDB51-54DF-575B-4154-29008BA3EE15}"/>
              </a:ext>
            </a:extLst>
          </p:cNvPr>
          <p:cNvSpPr txBox="1"/>
          <p:nvPr/>
        </p:nvSpPr>
        <p:spPr>
          <a:xfrm>
            <a:off x="13959707" y="7684771"/>
            <a:ext cx="401011" cy="369332"/>
          </a:xfrm>
          <a:prstGeom prst="rect">
            <a:avLst/>
          </a:prstGeom>
          <a:noFill/>
        </p:spPr>
        <p:txBody>
          <a:bodyPr wrap="square" rtlCol="0">
            <a:spAutoFit/>
          </a:bodyPr>
          <a:lstStyle/>
          <a:p>
            <a:r>
              <a:rPr lang="en-US" dirty="0"/>
              <a:t>1</a:t>
            </a:r>
          </a:p>
        </p:txBody>
      </p:sp>
      <p:pic>
        <p:nvPicPr>
          <p:cNvPr id="2" name="Picture 1">
            <a:extLst>
              <a:ext uri="{FF2B5EF4-FFF2-40B4-BE49-F238E27FC236}">
                <a16:creationId xmlns:a16="http://schemas.microsoft.com/office/drawing/2014/main" id="{BEDA1DA6-4BD8-728F-3C99-7D78A8142E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4630399" cy="8237306"/>
          </a:xfrm>
          <a:prstGeom prst="rect">
            <a:avLst/>
          </a:prstGeom>
        </p:spPr>
      </p:pic>
      <p:sp>
        <p:nvSpPr>
          <p:cNvPr id="4" name="Text 0">
            <a:extLst>
              <a:ext uri="{FF2B5EF4-FFF2-40B4-BE49-F238E27FC236}">
                <a16:creationId xmlns:a16="http://schemas.microsoft.com/office/drawing/2014/main" id="{6FF9312D-E68A-ADDC-E258-E76E80F733BB}"/>
              </a:ext>
            </a:extLst>
          </p:cNvPr>
          <p:cNvSpPr/>
          <p:nvPr/>
        </p:nvSpPr>
        <p:spPr>
          <a:xfrm>
            <a:off x="454867" y="1883115"/>
            <a:ext cx="8206248" cy="2835116"/>
          </a:xfrm>
          <a:prstGeom prst="rect">
            <a:avLst/>
          </a:prstGeom>
          <a:noFill/>
          <a:ln/>
        </p:spPr>
        <p:txBody>
          <a:bodyPr wrap="square" lIns="0" tIns="0" rIns="0" bIns="0" rtlCol="0" anchor="t"/>
          <a:lstStyle/>
          <a:p>
            <a:pPr marL="0" indent="0" algn="l">
              <a:lnSpc>
                <a:spcPts val="5550"/>
              </a:lnSpc>
              <a:buNone/>
            </a:pPr>
            <a:r>
              <a:rPr lang="en-US" sz="4000" b="1" dirty="0">
                <a:solidFill>
                  <a:srgbClr val="333F70"/>
                </a:solidFill>
                <a:latin typeface="Arial" panose="020B0604020202020204" pitchFamily="34" charset="0"/>
                <a:ea typeface="Unbounded Bold" pitchFamily="34" charset="-122"/>
                <a:cs typeface="Arial" panose="020B0604020202020204" pitchFamily="34" charset="0"/>
              </a:rPr>
              <a:t>ĐỒ ÁN 2: </a:t>
            </a:r>
            <a:br>
              <a:rPr lang="en-US" sz="4000" b="1" dirty="0">
                <a:solidFill>
                  <a:srgbClr val="333F70"/>
                </a:solidFill>
                <a:latin typeface="Arial" panose="020B0604020202020204" pitchFamily="34" charset="0"/>
                <a:ea typeface="Unbounded Bold" pitchFamily="34" charset="-122"/>
                <a:cs typeface="Arial" panose="020B0604020202020204" pitchFamily="34" charset="0"/>
              </a:rPr>
            </a:br>
            <a:r>
              <a:rPr lang="en-US" sz="4000" b="1" dirty="0">
                <a:solidFill>
                  <a:srgbClr val="333F70"/>
                </a:solidFill>
                <a:latin typeface="Arial" panose="020B0604020202020204" pitchFamily="34" charset="0"/>
                <a:ea typeface="Unbounded Bold" pitchFamily="34" charset="-122"/>
                <a:cs typeface="Arial" panose="020B0604020202020204" pitchFamily="34" charset="0"/>
              </a:rPr>
              <a:t>THIẾT KẾ WEBSITE GIỚI THIỆU VÀ BÁN QUÀ TẶNG, PHỤ KIỆN TRANG TRÍ, ĐỒ CHƠI</a:t>
            </a:r>
            <a:endParaRPr lang="en-US" sz="4000" dirty="0">
              <a:latin typeface="Arial" panose="020B0604020202020204" pitchFamily="34" charset="0"/>
              <a:cs typeface="Arial" panose="020B0604020202020204" pitchFamily="34" charset="0"/>
            </a:endParaRPr>
          </a:p>
        </p:txBody>
      </p:sp>
      <p:sp>
        <p:nvSpPr>
          <p:cNvPr id="8" name="Text 2">
            <a:extLst>
              <a:ext uri="{FF2B5EF4-FFF2-40B4-BE49-F238E27FC236}">
                <a16:creationId xmlns:a16="http://schemas.microsoft.com/office/drawing/2014/main" id="{1F5BFFE2-246B-4F9B-E2A2-21B213613BE7}"/>
              </a:ext>
            </a:extLst>
          </p:cNvPr>
          <p:cNvSpPr/>
          <p:nvPr/>
        </p:nvSpPr>
        <p:spPr>
          <a:xfrm>
            <a:off x="454867" y="5407321"/>
            <a:ext cx="7556421" cy="290274"/>
          </a:xfrm>
          <a:prstGeom prst="rect">
            <a:avLst/>
          </a:prstGeom>
          <a:noFill/>
          <a:ln/>
        </p:spPr>
        <p:txBody>
          <a:bodyPr wrap="none" lIns="0" tIns="0" rIns="0" bIns="0" rtlCol="0" anchor="t"/>
          <a:lstStyle/>
          <a:p>
            <a:pPr marL="0" indent="0" algn="l">
              <a:lnSpc>
                <a:spcPts val="22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SINH VIÊN: NGUYỄN DUY THUẤN – MÃ SINH VIÊN: 10123308</a:t>
            </a:r>
            <a:endParaRPr lang="en-US" dirty="0">
              <a:latin typeface="Arial" panose="020B0604020202020204" pitchFamily="34" charset="0"/>
              <a:cs typeface="Arial" panose="020B0604020202020204" pitchFamily="34" charset="0"/>
            </a:endParaRPr>
          </a:p>
        </p:txBody>
      </p:sp>
      <p:sp>
        <p:nvSpPr>
          <p:cNvPr id="9" name="Text 3">
            <a:extLst>
              <a:ext uri="{FF2B5EF4-FFF2-40B4-BE49-F238E27FC236}">
                <a16:creationId xmlns:a16="http://schemas.microsoft.com/office/drawing/2014/main" id="{8981AAA8-B50D-CAF3-3301-269A5A5BA08D}"/>
              </a:ext>
            </a:extLst>
          </p:cNvPr>
          <p:cNvSpPr/>
          <p:nvPr/>
        </p:nvSpPr>
        <p:spPr>
          <a:xfrm>
            <a:off x="454867" y="5952746"/>
            <a:ext cx="7556421" cy="290274"/>
          </a:xfrm>
          <a:prstGeom prst="rect">
            <a:avLst/>
          </a:prstGeom>
          <a:noFill/>
          <a:ln/>
        </p:spPr>
        <p:txBody>
          <a:bodyPr wrap="none" lIns="0" tIns="0" rIns="0" bIns="0" rtlCol="0" anchor="t"/>
          <a:lstStyle/>
          <a:p>
            <a:pPr marL="0" indent="0" algn="l">
              <a:lnSpc>
                <a:spcPts val="22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GIẢNG VIÊN HƯỚNG DẪN: THS. NGUYỄN HOÀNG ĐIỆP</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9520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81501" y="456843"/>
            <a:ext cx="13467398" cy="1038463"/>
          </a:xfrm>
          <a:prstGeom prst="rect">
            <a:avLst/>
          </a:prstGeom>
          <a:noFill/>
          <a:ln/>
        </p:spPr>
        <p:txBody>
          <a:bodyPr wrap="square" lIns="0" tIns="0" rIns="0" bIns="0" rtlCol="0" anchor="t"/>
          <a:lstStyle/>
          <a:p>
            <a:pPr marL="0" indent="0" algn="l">
              <a:lnSpc>
                <a:spcPts val="4050"/>
              </a:lnSpc>
              <a:buNone/>
            </a:pPr>
            <a:r>
              <a:rPr lang="en-US" sz="3250" b="1" dirty="0">
                <a:solidFill>
                  <a:srgbClr val="333F70"/>
                </a:solidFill>
                <a:latin typeface="Arial" panose="020B0604020202020204" pitchFamily="34" charset="0"/>
                <a:ea typeface="Unbounded Bold" pitchFamily="34" charset="-122"/>
                <a:cs typeface="Arial" panose="020B0604020202020204" pitchFamily="34" charset="0"/>
              </a:rPr>
              <a:t>Lý Do Chọn Đề Tài: Nắm Bắt Xu Hướng Thương Mại Điện Tử</a:t>
            </a:r>
            <a:endParaRPr lang="en-US" sz="3250" dirty="0">
              <a:latin typeface="Arial" panose="020B0604020202020204" pitchFamily="34" charset="0"/>
              <a:cs typeface="Arial" panose="020B0604020202020204" pitchFamily="34" charset="0"/>
            </a:endParaRPr>
          </a:p>
        </p:txBody>
      </p:sp>
      <p:sp>
        <p:nvSpPr>
          <p:cNvPr id="3" name="Shape 1"/>
          <p:cNvSpPr/>
          <p:nvPr/>
        </p:nvSpPr>
        <p:spPr>
          <a:xfrm>
            <a:off x="581501" y="1931432"/>
            <a:ext cx="664607" cy="1289566"/>
          </a:xfrm>
          <a:prstGeom prst="roundRect">
            <a:avLst>
              <a:gd name="adj" fmla="val 360015"/>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4" name="Text 2"/>
          <p:cNvSpPr/>
          <p:nvPr/>
        </p:nvSpPr>
        <p:spPr>
          <a:xfrm>
            <a:off x="789146" y="2420422"/>
            <a:ext cx="249198" cy="311468"/>
          </a:xfrm>
          <a:prstGeom prst="rect">
            <a:avLst/>
          </a:prstGeom>
          <a:noFill/>
          <a:ln/>
        </p:spPr>
        <p:txBody>
          <a:bodyPr wrap="none" lIns="0" tIns="0" rIns="0" bIns="0" rtlCol="0" anchor="t"/>
          <a:lstStyle/>
          <a:p>
            <a:pPr marL="0" indent="0" algn="l">
              <a:lnSpc>
                <a:spcPts val="1950"/>
              </a:lnSpc>
              <a:buNone/>
            </a:pPr>
            <a:r>
              <a:rPr lang="en-US" sz="3200" b="1" dirty="0">
                <a:solidFill>
                  <a:srgbClr val="333F70"/>
                </a:solidFill>
                <a:latin typeface="Arial" panose="020B0604020202020204" pitchFamily="34" charset="0"/>
                <a:ea typeface="Unbounded Bold" pitchFamily="34" charset="-122"/>
                <a:cs typeface="Arial" panose="020B0604020202020204" pitchFamily="34" charset="0"/>
              </a:rPr>
              <a:t>1</a:t>
            </a:r>
            <a:endParaRPr lang="en-US" sz="3200" dirty="0">
              <a:latin typeface="Arial" panose="020B0604020202020204" pitchFamily="34" charset="0"/>
              <a:cs typeface="Arial" panose="020B0604020202020204" pitchFamily="34" charset="0"/>
            </a:endParaRPr>
          </a:p>
        </p:txBody>
      </p:sp>
      <p:sp>
        <p:nvSpPr>
          <p:cNvPr id="5" name="Text 3"/>
          <p:cNvSpPr/>
          <p:nvPr/>
        </p:nvSpPr>
        <p:spPr>
          <a:xfrm>
            <a:off x="1412200" y="2097524"/>
            <a:ext cx="3194447" cy="259556"/>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Phát Triển Công Nghệ Số</a:t>
            </a:r>
            <a:endParaRPr lang="en-US" sz="2000" dirty="0">
              <a:latin typeface="Arial" panose="020B0604020202020204" pitchFamily="34" charset="0"/>
              <a:cs typeface="Arial" panose="020B0604020202020204" pitchFamily="34" charset="0"/>
            </a:endParaRPr>
          </a:p>
        </p:txBody>
      </p:sp>
      <p:sp>
        <p:nvSpPr>
          <p:cNvPr id="6" name="Text 4"/>
          <p:cNvSpPr/>
          <p:nvPr/>
        </p:nvSpPr>
        <p:spPr>
          <a:xfrm>
            <a:off x="1412200" y="2523172"/>
            <a:ext cx="6393894" cy="531733"/>
          </a:xfrm>
          <a:prstGeom prst="rect">
            <a:avLst/>
          </a:prstGeom>
          <a:noFill/>
          <a:ln/>
        </p:spPr>
        <p:txBody>
          <a:bodyPr wrap="square" lIns="0" tIns="0" rIns="0" bIns="0" rtlCol="0" anchor="t"/>
          <a:lstStyle/>
          <a:p>
            <a:pPr marL="0" indent="0" algn="l">
              <a:lnSpc>
                <a:spcPts val="20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Internet và thương mại điện tử bùng nổ, thay đổi thói quen mua sắm của người tiêu dùng, hướng đến sự tiện lợi và nhanh chóng.</a:t>
            </a:r>
            <a:endParaRPr lang="en-US" sz="1600" dirty="0">
              <a:latin typeface="Arial" panose="020B0604020202020204" pitchFamily="34" charset="0"/>
              <a:cs typeface="Arial" panose="020B0604020202020204" pitchFamily="34" charset="0"/>
            </a:endParaRPr>
          </a:p>
        </p:txBody>
      </p:sp>
      <p:sp>
        <p:nvSpPr>
          <p:cNvPr id="7" name="Shape 5"/>
          <p:cNvSpPr/>
          <p:nvPr/>
        </p:nvSpPr>
        <p:spPr>
          <a:xfrm>
            <a:off x="581501" y="3387090"/>
            <a:ext cx="664607" cy="1289566"/>
          </a:xfrm>
          <a:prstGeom prst="roundRect">
            <a:avLst>
              <a:gd name="adj" fmla="val 360015"/>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8" name="Text 6"/>
          <p:cNvSpPr/>
          <p:nvPr/>
        </p:nvSpPr>
        <p:spPr>
          <a:xfrm>
            <a:off x="789146" y="3876080"/>
            <a:ext cx="249198" cy="311468"/>
          </a:xfrm>
          <a:prstGeom prst="rect">
            <a:avLst/>
          </a:prstGeom>
          <a:noFill/>
          <a:ln/>
        </p:spPr>
        <p:txBody>
          <a:bodyPr wrap="none" lIns="0" tIns="0" rIns="0" bIns="0" rtlCol="0" anchor="t"/>
          <a:lstStyle/>
          <a:p>
            <a:pPr marL="0" indent="0" algn="l">
              <a:lnSpc>
                <a:spcPts val="1950"/>
              </a:lnSpc>
              <a:buNone/>
            </a:pPr>
            <a:r>
              <a:rPr lang="en-US" sz="3200" b="1" dirty="0">
                <a:solidFill>
                  <a:srgbClr val="333F70"/>
                </a:solidFill>
                <a:latin typeface="Arial" panose="020B0604020202020204" pitchFamily="34" charset="0"/>
                <a:ea typeface="Unbounded Bold" pitchFamily="34" charset="-122"/>
                <a:cs typeface="Arial" panose="020B0604020202020204" pitchFamily="34" charset="0"/>
              </a:rPr>
              <a:t>2</a:t>
            </a:r>
            <a:endParaRPr lang="en-US" sz="3200" dirty="0">
              <a:latin typeface="Arial" panose="020B0604020202020204" pitchFamily="34" charset="0"/>
              <a:cs typeface="Arial" panose="020B0604020202020204" pitchFamily="34" charset="0"/>
            </a:endParaRPr>
          </a:p>
        </p:txBody>
      </p:sp>
      <p:sp>
        <p:nvSpPr>
          <p:cNvPr id="9" name="Text 7"/>
          <p:cNvSpPr/>
          <p:nvPr/>
        </p:nvSpPr>
        <p:spPr>
          <a:xfrm>
            <a:off x="1412200" y="3553182"/>
            <a:ext cx="3080504" cy="259556"/>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Nhu Cầu Thị Trường Lớn</a:t>
            </a:r>
            <a:endParaRPr lang="en-US" sz="2000" dirty="0">
              <a:latin typeface="Arial" panose="020B0604020202020204" pitchFamily="34" charset="0"/>
              <a:cs typeface="Arial" panose="020B0604020202020204" pitchFamily="34" charset="0"/>
            </a:endParaRPr>
          </a:p>
        </p:txBody>
      </p:sp>
      <p:sp>
        <p:nvSpPr>
          <p:cNvPr id="10" name="Text 8"/>
          <p:cNvSpPr/>
          <p:nvPr/>
        </p:nvSpPr>
        <p:spPr>
          <a:xfrm>
            <a:off x="1412200" y="3978831"/>
            <a:ext cx="6393894" cy="531733"/>
          </a:xfrm>
          <a:prstGeom prst="rect">
            <a:avLst/>
          </a:prstGeom>
          <a:noFill/>
          <a:ln/>
        </p:spPr>
        <p:txBody>
          <a:bodyPr wrap="square" lIns="0" tIns="0" rIns="0" bIns="0" rtlCol="0" anchor="t"/>
          <a:lstStyle/>
          <a:p>
            <a:pPr marL="0" indent="0" algn="l">
              <a:lnSpc>
                <a:spcPts val="20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Quà tặng, phụ kiện trang trí, đồ chơi là những mặt hàng có tính thẩm mỹ cao và nhu cầu lớn trong các dịp lễ tết, sinh nhật.</a:t>
            </a:r>
            <a:endParaRPr lang="en-US" sz="1600" dirty="0">
              <a:latin typeface="Arial" panose="020B0604020202020204" pitchFamily="34" charset="0"/>
              <a:cs typeface="Arial" panose="020B0604020202020204" pitchFamily="34" charset="0"/>
            </a:endParaRPr>
          </a:p>
        </p:txBody>
      </p:sp>
      <p:sp>
        <p:nvSpPr>
          <p:cNvPr id="11" name="Shape 9"/>
          <p:cNvSpPr/>
          <p:nvPr/>
        </p:nvSpPr>
        <p:spPr>
          <a:xfrm>
            <a:off x="581501" y="4842748"/>
            <a:ext cx="664607" cy="1289566"/>
          </a:xfrm>
          <a:prstGeom prst="roundRect">
            <a:avLst>
              <a:gd name="adj" fmla="val 360015"/>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12" name="Text 10"/>
          <p:cNvSpPr/>
          <p:nvPr/>
        </p:nvSpPr>
        <p:spPr>
          <a:xfrm>
            <a:off x="789146" y="5331738"/>
            <a:ext cx="249198" cy="311468"/>
          </a:xfrm>
          <a:prstGeom prst="rect">
            <a:avLst/>
          </a:prstGeom>
          <a:noFill/>
          <a:ln/>
        </p:spPr>
        <p:txBody>
          <a:bodyPr wrap="none" lIns="0" tIns="0" rIns="0" bIns="0" rtlCol="0" anchor="t"/>
          <a:lstStyle/>
          <a:p>
            <a:pPr marL="0" indent="0" algn="l">
              <a:lnSpc>
                <a:spcPts val="1950"/>
              </a:lnSpc>
              <a:buNone/>
            </a:pPr>
            <a:r>
              <a:rPr lang="en-US" sz="3200" b="1" dirty="0">
                <a:solidFill>
                  <a:srgbClr val="333F70"/>
                </a:solidFill>
                <a:latin typeface="Arial" panose="020B0604020202020204" pitchFamily="34" charset="0"/>
                <a:ea typeface="Unbounded Bold" pitchFamily="34" charset="-122"/>
                <a:cs typeface="Arial" panose="020B0604020202020204" pitchFamily="34" charset="0"/>
              </a:rPr>
              <a:t>3</a:t>
            </a:r>
            <a:endParaRPr lang="en-US" sz="3200" dirty="0">
              <a:latin typeface="Arial" panose="020B0604020202020204" pitchFamily="34" charset="0"/>
              <a:cs typeface="Arial" panose="020B0604020202020204" pitchFamily="34" charset="0"/>
            </a:endParaRPr>
          </a:p>
        </p:txBody>
      </p:sp>
      <p:sp>
        <p:nvSpPr>
          <p:cNvPr id="13" name="Text 11"/>
          <p:cNvSpPr/>
          <p:nvPr/>
        </p:nvSpPr>
        <p:spPr>
          <a:xfrm>
            <a:off x="1412200" y="5008840"/>
            <a:ext cx="3296007" cy="259556"/>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Hỗ Trợ Doanh Nghiệp Nhỏ</a:t>
            </a:r>
            <a:endParaRPr lang="en-US" sz="2000" dirty="0">
              <a:latin typeface="Arial" panose="020B0604020202020204" pitchFamily="34" charset="0"/>
              <a:cs typeface="Arial" panose="020B0604020202020204" pitchFamily="34" charset="0"/>
            </a:endParaRPr>
          </a:p>
        </p:txBody>
      </p:sp>
      <p:sp>
        <p:nvSpPr>
          <p:cNvPr id="14" name="Text 12"/>
          <p:cNvSpPr/>
          <p:nvPr/>
        </p:nvSpPr>
        <p:spPr>
          <a:xfrm>
            <a:off x="1412200" y="5434489"/>
            <a:ext cx="6393894" cy="531733"/>
          </a:xfrm>
          <a:prstGeom prst="rect">
            <a:avLst/>
          </a:prstGeom>
          <a:noFill/>
          <a:ln/>
        </p:spPr>
        <p:txBody>
          <a:bodyPr wrap="square" lIns="0" tIns="0" rIns="0" bIns="0" rtlCol="0" anchor="t"/>
          <a:lstStyle/>
          <a:p>
            <a:pPr marL="0" indent="0" algn="l">
              <a:lnSpc>
                <a:spcPts val="20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Nhiều cửa hàng nhỏ chưa có kênh bán hàng trực tuyến hiệu quả, bỏ lỡ cơ hội tiếp cận khách hàng tiềm năng.</a:t>
            </a:r>
            <a:endParaRPr lang="en-US" sz="1600" dirty="0">
              <a:latin typeface="Arial" panose="020B0604020202020204" pitchFamily="34" charset="0"/>
              <a:cs typeface="Arial" panose="020B0604020202020204" pitchFamily="34" charset="0"/>
            </a:endParaRPr>
          </a:p>
        </p:txBody>
      </p:sp>
      <p:sp>
        <p:nvSpPr>
          <p:cNvPr id="15" name="Shape 13"/>
          <p:cNvSpPr/>
          <p:nvPr/>
        </p:nvSpPr>
        <p:spPr>
          <a:xfrm>
            <a:off x="581501" y="6298406"/>
            <a:ext cx="664607" cy="1289566"/>
          </a:xfrm>
          <a:prstGeom prst="roundRect">
            <a:avLst>
              <a:gd name="adj" fmla="val 360015"/>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16" name="Text 14"/>
          <p:cNvSpPr/>
          <p:nvPr/>
        </p:nvSpPr>
        <p:spPr>
          <a:xfrm>
            <a:off x="789146" y="6787396"/>
            <a:ext cx="249198" cy="311468"/>
          </a:xfrm>
          <a:prstGeom prst="rect">
            <a:avLst/>
          </a:prstGeom>
          <a:noFill/>
          <a:ln/>
        </p:spPr>
        <p:txBody>
          <a:bodyPr wrap="none" lIns="0" tIns="0" rIns="0" bIns="0" rtlCol="0" anchor="t"/>
          <a:lstStyle/>
          <a:p>
            <a:pPr marL="0" indent="0" algn="l">
              <a:lnSpc>
                <a:spcPts val="1950"/>
              </a:lnSpc>
              <a:buNone/>
            </a:pPr>
            <a:r>
              <a:rPr lang="en-US" sz="3200" b="1" dirty="0">
                <a:solidFill>
                  <a:srgbClr val="333F70"/>
                </a:solidFill>
                <a:latin typeface="Arial" panose="020B0604020202020204" pitchFamily="34" charset="0"/>
                <a:ea typeface="Unbounded Bold" pitchFamily="34" charset="-122"/>
                <a:cs typeface="Arial" panose="020B0604020202020204" pitchFamily="34" charset="0"/>
              </a:rPr>
              <a:t>4</a:t>
            </a:r>
            <a:endParaRPr lang="en-US" sz="3200" dirty="0">
              <a:latin typeface="Arial" panose="020B0604020202020204" pitchFamily="34" charset="0"/>
              <a:cs typeface="Arial" panose="020B0604020202020204" pitchFamily="34" charset="0"/>
            </a:endParaRPr>
          </a:p>
        </p:txBody>
      </p:sp>
      <p:sp>
        <p:nvSpPr>
          <p:cNvPr id="17" name="Text 15"/>
          <p:cNvSpPr/>
          <p:nvPr/>
        </p:nvSpPr>
        <p:spPr>
          <a:xfrm>
            <a:off x="1412200" y="6464498"/>
            <a:ext cx="3620095" cy="259556"/>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Vận Dụng Kiến Thức Thực Tế</a:t>
            </a:r>
            <a:endParaRPr lang="en-US" sz="2000" dirty="0">
              <a:latin typeface="Arial" panose="020B0604020202020204" pitchFamily="34" charset="0"/>
              <a:cs typeface="Arial" panose="020B0604020202020204" pitchFamily="34" charset="0"/>
            </a:endParaRPr>
          </a:p>
        </p:txBody>
      </p:sp>
      <p:sp>
        <p:nvSpPr>
          <p:cNvPr id="18" name="Text 16"/>
          <p:cNvSpPr/>
          <p:nvPr/>
        </p:nvSpPr>
        <p:spPr>
          <a:xfrm>
            <a:off x="1412200" y="6890147"/>
            <a:ext cx="6393894" cy="531733"/>
          </a:xfrm>
          <a:prstGeom prst="rect">
            <a:avLst/>
          </a:prstGeom>
          <a:noFill/>
          <a:ln/>
        </p:spPr>
        <p:txBody>
          <a:bodyPr wrap="square" lIns="0" tIns="0" rIns="0" bIns="0" rtlCol="0" anchor="t"/>
          <a:lstStyle/>
          <a:p>
            <a:pPr marL="0" indent="0" algn="l">
              <a:lnSpc>
                <a:spcPts val="20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Đề tài là cơ hội vàng để áp dụng các kiến thức lập trình web đã học vào xây dựng một sản phẩm thực tiễn, nâng cao kỹ năng chuyên môn.</a:t>
            </a:r>
            <a:endParaRPr lang="en-US" sz="1600" dirty="0">
              <a:latin typeface="Arial" panose="020B0604020202020204" pitchFamily="34" charset="0"/>
              <a:cs typeface="Arial" panose="020B0604020202020204" pitchFamily="34" charset="0"/>
            </a:endParaRPr>
          </a:p>
        </p:txBody>
      </p:sp>
      <p:pic>
        <p:nvPicPr>
          <p:cNvPr id="21" name="Picture 20" descr="A collage of different images of a store&#10;&#10;AI-generated content may be incorrect.">
            <a:extLst>
              <a:ext uri="{FF2B5EF4-FFF2-40B4-BE49-F238E27FC236}">
                <a16:creationId xmlns:a16="http://schemas.microsoft.com/office/drawing/2014/main" id="{2CEA33EA-BE1C-4D62-19CC-E3A760D2D9CF}"/>
              </a:ext>
            </a:extLst>
          </p:cNvPr>
          <p:cNvPicPr>
            <a:picLocks noChangeAspect="1"/>
          </p:cNvPicPr>
          <p:nvPr/>
        </p:nvPicPr>
        <p:blipFill>
          <a:blip r:embed="rId3"/>
          <a:stretch>
            <a:fillRect/>
          </a:stretch>
        </p:blipFill>
        <p:spPr>
          <a:xfrm>
            <a:off x="7972186" y="1137425"/>
            <a:ext cx="6658214" cy="6450547"/>
          </a:xfrm>
          <a:prstGeom prst="rect">
            <a:avLst/>
          </a:prstGeom>
        </p:spPr>
      </p:pic>
      <p:sp>
        <p:nvSpPr>
          <p:cNvPr id="22" name="TextBox 21">
            <a:extLst>
              <a:ext uri="{FF2B5EF4-FFF2-40B4-BE49-F238E27FC236}">
                <a16:creationId xmlns:a16="http://schemas.microsoft.com/office/drawing/2014/main" id="{C59A82D0-B0EC-6457-47C1-2502434C921F}"/>
              </a:ext>
            </a:extLst>
          </p:cNvPr>
          <p:cNvSpPr txBox="1"/>
          <p:nvPr/>
        </p:nvSpPr>
        <p:spPr>
          <a:xfrm>
            <a:off x="14129028" y="7730957"/>
            <a:ext cx="401011" cy="369332"/>
          </a:xfrm>
          <a:prstGeom prst="rect">
            <a:avLst/>
          </a:prstGeom>
          <a:noFill/>
        </p:spPr>
        <p:txBody>
          <a:bodyPr wrap="square" rtlCol="0">
            <a:spAutoFit/>
          </a:bodyPr>
          <a:lstStyle/>
          <a:p>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5449" y="738545"/>
            <a:ext cx="13159502" cy="1313259"/>
          </a:xfrm>
          <a:prstGeom prst="rect">
            <a:avLst/>
          </a:prstGeom>
          <a:noFill/>
          <a:ln/>
        </p:spPr>
        <p:txBody>
          <a:bodyPr wrap="square" lIns="0" tIns="0" rIns="0" bIns="0" rtlCol="0" anchor="t"/>
          <a:lstStyle/>
          <a:p>
            <a:pPr marL="0" indent="0" algn="l">
              <a:lnSpc>
                <a:spcPts val="5150"/>
              </a:lnSpc>
              <a:buNone/>
            </a:pPr>
            <a:r>
              <a:rPr lang="en-US" sz="4100" b="1" dirty="0">
                <a:solidFill>
                  <a:srgbClr val="333F70"/>
                </a:solidFill>
                <a:latin typeface="Arial" panose="020B0604020202020204" pitchFamily="34" charset="0"/>
                <a:ea typeface="Unbounded Bold" pitchFamily="34" charset="-122"/>
                <a:cs typeface="Arial" panose="020B0604020202020204" pitchFamily="34" charset="0"/>
              </a:rPr>
              <a:t>Mục Tiêu Đề Tài: Xây Dựng Nền Tảng Mua Sắm Trực Tuyến Toàn Diện</a:t>
            </a:r>
            <a:endParaRPr lang="en-US" sz="4100" dirty="0">
              <a:latin typeface="Arial" panose="020B0604020202020204" pitchFamily="34" charset="0"/>
              <a:cs typeface="Arial" panose="020B0604020202020204" pitchFamily="34" charset="0"/>
            </a:endParaRPr>
          </a:p>
        </p:txBody>
      </p:sp>
      <p:sp>
        <p:nvSpPr>
          <p:cNvPr id="3" name="Text 1"/>
          <p:cNvSpPr/>
          <p:nvPr/>
        </p:nvSpPr>
        <p:spPr>
          <a:xfrm>
            <a:off x="1978819" y="2471976"/>
            <a:ext cx="3033474" cy="328255"/>
          </a:xfrm>
          <a:prstGeom prst="rect">
            <a:avLst/>
          </a:prstGeom>
          <a:noFill/>
          <a:ln/>
        </p:spPr>
        <p:txBody>
          <a:bodyPr wrap="none" lIns="0" tIns="0" rIns="0" bIns="0" rtlCol="0" anchor="t"/>
          <a:lstStyle/>
          <a:p>
            <a:pPr marL="0" indent="0" algn="r">
              <a:lnSpc>
                <a:spcPts val="25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Giao Diện Đẹp Mắt</a:t>
            </a:r>
            <a:endParaRPr lang="en-US" sz="2400" dirty="0">
              <a:latin typeface="Arial" panose="020B0604020202020204" pitchFamily="34" charset="0"/>
              <a:cs typeface="Arial" panose="020B0604020202020204" pitchFamily="34" charset="0"/>
            </a:endParaRPr>
          </a:p>
        </p:txBody>
      </p:sp>
      <p:sp>
        <p:nvSpPr>
          <p:cNvPr id="4" name="Text 2"/>
          <p:cNvSpPr/>
          <p:nvPr/>
        </p:nvSpPr>
        <p:spPr>
          <a:xfrm>
            <a:off x="735449" y="2926199"/>
            <a:ext cx="4276844" cy="1008698"/>
          </a:xfrm>
          <a:prstGeom prst="rect">
            <a:avLst/>
          </a:prstGeom>
          <a:noFill/>
          <a:ln/>
        </p:spPr>
        <p:txBody>
          <a:bodyPr wrap="square" lIns="0" tIns="0" rIns="0" bIns="0" rtlCol="0" anchor="t"/>
          <a:lstStyle/>
          <a:p>
            <a:pPr marL="0" indent="0" algn="r">
              <a:lnSpc>
                <a:spcPts val="2600"/>
              </a:lnSpc>
              <a:buNone/>
            </a:pPr>
            <a:r>
              <a:rPr lang="en-US" sz="1650" dirty="0">
                <a:solidFill>
                  <a:srgbClr val="333F70"/>
                </a:solidFill>
                <a:latin typeface="Arial" panose="020B0604020202020204" pitchFamily="34" charset="0"/>
                <a:ea typeface="Open Sans" pitchFamily="34" charset="-122"/>
                <a:cs typeface="Arial" panose="020B0604020202020204" pitchFamily="34" charset="0"/>
              </a:rPr>
              <a:t>Thiết kế website với giao diện thu hút, thân thiện và dễ dàng sử dụng cho mọi đối tượng khách hàng.</a:t>
            </a:r>
            <a:endParaRPr lang="en-US" sz="1650" dirty="0">
              <a:latin typeface="Arial" panose="020B0604020202020204" pitchFamily="34" charset="0"/>
              <a:cs typeface="Arial" panose="020B0604020202020204" pitchFamily="34" charset="0"/>
            </a:endParaRPr>
          </a:p>
        </p:txBody>
      </p:sp>
      <p:pic>
        <p:nvPicPr>
          <p:cNvPr id="5" name="Image 0" descr="preencoded.png"/>
          <p:cNvPicPr>
            <a:picLocks noChangeAspect="1"/>
          </p:cNvPicPr>
          <p:nvPr/>
        </p:nvPicPr>
        <p:blipFill>
          <a:blip r:embed="rId3"/>
          <a:stretch>
            <a:fillRect/>
          </a:stretch>
        </p:blipFill>
        <p:spPr>
          <a:xfrm>
            <a:off x="5012293" y="2678549"/>
            <a:ext cx="4605814" cy="4605814"/>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74393" y="3806547"/>
            <a:ext cx="295394" cy="295394"/>
          </a:xfrm>
          <a:prstGeom prst="rect">
            <a:avLst/>
          </a:prstGeom>
        </p:spPr>
      </p:pic>
      <p:sp>
        <p:nvSpPr>
          <p:cNvPr id="7" name="Text 3"/>
          <p:cNvSpPr/>
          <p:nvPr/>
        </p:nvSpPr>
        <p:spPr>
          <a:xfrm>
            <a:off x="9618107" y="2471976"/>
            <a:ext cx="3382208" cy="328255"/>
          </a:xfrm>
          <a:prstGeom prst="rect">
            <a:avLst/>
          </a:prstGeom>
          <a:noFill/>
          <a:ln/>
        </p:spPr>
        <p:txBody>
          <a:bodyPr wrap="none" lIns="0" tIns="0" rIns="0" bIns="0" rtlCol="0" anchor="t"/>
          <a:lstStyle/>
          <a:p>
            <a:pPr marL="0" indent="0" algn="l">
              <a:lnSpc>
                <a:spcPts val="25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Chức Năng Giỏ Hàng</a:t>
            </a:r>
            <a:endParaRPr lang="en-US" sz="2400" dirty="0">
              <a:latin typeface="Arial" panose="020B0604020202020204" pitchFamily="34" charset="0"/>
              <a:cs typeface="Arial" panose="020B0604020202020204" pitchFamily="34" charset="0"/>
            </a:endParaRPr>
          </a:p>
        </p:txBody>
      </p:sp>
      <p:sp>
        <p:nvSpPr>
          <p:cNvPr id="8" name="Text 4"/>
          <p:cNvSpPr/>
          <p:nvPr/>
        </p:nvSpPr>
        <p:spPr>
          <a:xfrm>
            <a:off x="9618107" y="2926199"/>
            <a:ext cx="4276844" cy="1008698"/>
          </a:xfrm>
          <a:prstGeom prst="rect">
            <a:avLst/>
          </a:prstGeom>
          <a:noFill/>
          <a:ln/>
        </p:spPr>
        <p:txBody>
          <a:bodyPr wrap="square" lIns="0" tIns="0" rIns="0" bIns="0" rtlCol="0" anchor="t"/>
          <a:lstStyle/>
          <a:p>
            <a:pPr marL="0" indent="0" algn="l">
              <a:lnSpc>
                <a:spcPts val="2600"/>
              </a:lnSpc>
              <a:buNone/>
            </a:pPr>
            <a:r>
              <a:rPr lang="en-US" sz="1650" dirty="0">
                <a:solidFill>
                  <a:srgbClr val="333F70"/>
                </a:solidFill>
                <a:latin typeface="Arial" panose="020B0604020202020204" pitchFamily="34" charset="0"/>
                <a:ea typeface="Open Sans" pitchFamily="34" charset="-122"/>
                <a:cs typeface="Arial" panose="020B0604020202020204" pitchFamily="34" charset="0"/>
              </a:rPr>
              <a:t>Hệ thống giỏ hàng thông minh, cho phép người dùng thêm, xóa, cập nhật sản phẩm trước khi thanh toán.</a:t>
            </a:r>
            <a:endParaRPr lang="en-US" sz="1650" dirty="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6"/>
          <a:stretch>
            <a:fillRect/>
          </a:stretch>
        </p:blipFill>
        <p:spPr>
          <a:xfrm>
            <a:off x="5012293" y="2678549"/>
            <a:ext cx="4605814" cy="4605814"/>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60375" y="3806547"/>
            <a:ext cx="295394" cy="295394"/>
          </a:xfrm>
          <a:prstGeom prst="rect">
            <a:avLst/>
          </a:prstGeom>
        </p:spPr>
      </p:pic>
      <p:sp>
        <p:nvSpPr>
          <p:cNvPr id="11" name="Text 5"/>
          <p:cNvSpPr/>
          <p:nvPr/>
        </p:nvSpPr>
        <p:spPr>
          <a:xfrm>
            <a:off x="10038278" y="4250055"/>
            <a:ext cx="3775353" cy="328255"/>
          </a:xfrm>
          <a:prstGeom prst="rect">
            <a:avLst/>
          </a:prstGeom>
          <a:noFill/>
          <a:ln/>
        </p:spPr>
        <p:txBody>
          <a:bodyPr wrap="none" lIns="0" tIns="0" rIns="0" bIns="0" rtlCol="0" anchor="t"/>
          <a:lstStyle/>
          <a:p>
            <a:pPr marL="0" indent="0" algn="l">
              <a:lnSpc>
                <a:spcPts val="25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Thanh Toán Thuận Tiện</a:t>
            </a:r>
            <a:endParaRPr lang="en-US" sz="2400" dirty="0">
              <a:latin typeface="Arial" panose="020B0604020202020204" pitchFamily="34" charset="0"/>
              <a:cs typeface="Arial" panose="020B0604020202020204" pitchFamily="34" charset="0"/>
            </a:endParaRPr>
          </a:p>
        </p:txBody>
      </p:sp>
      <p:sp>
        <p:nvSpPr>
          <p:cNvPr id="12" name="Text 6"/>
          <p:cNvSpPr/>
          <p:nvPr/>
        </p:nvSpPr>
        <p:spPr>
          <a:xfrm>
            <a:off x="10038278" y="4704278"/>
            <a:ext cx="3856673" cy="1008698"/>
          </a:xfrm>
          <a:prstGeom prst="rect">
            <a:avLst/>
          </a:prstGeom>
          <a:noFill/>
          <a:ln/>
        </p:spPr>
        <p:txBody>
          <a:bodyPr wrap="square" lIns="0" tIns="0" rIns="0" bIns="0" rtlCol="0" anchor="t"/>
          <a:lstStyle/>
          <a:p>
            <a:pPr marL="0" indent="0" algn="l">
              <a:lnSpc>
                <a:spcPts val="2600"/>
              </a:lnSpc>
              <a:buNone/>
            </a:pPr>
            <a:r>
              <a:rPr lang="en-US" sz="1650" dirty="0">
                <a:solidFill>
                  <a:srgbClr val="333F70"/>
                </a:solidFill>
                <a:latin typeface="Arial" panose="020B0604020202020204" pitchFamily="34" charset="0"/>
                <a:ea typeface="Open Sans" pitchFamily="34" charset="-122"/>
                <a:cs typeface="Arial" panose="020B0604020202020204" pitchFamily="34" charset="0"/>
              </a:rPr>
              <a:t>Tích hợp các phương thức thanh toán an toàn và đa dạng, mang lại trải nghiệm mua sắm không gián đoạn.</a:t>
            </a:r>
            <a:endParaRPr lang="en-US" sz="1650" dirty="0">
              <a:latin typeface="Arial" panose="020B0604020202020204" pitchFamily="34" charset="0"/>
              <a:cs typeface="Arial" panose="020B0604020202020204" pitchFamily="34" charset="0"/>
            </a:endParaRPr>
          </a:p>
        </p:txBody>
      </p:sp>
      <p:pic>
        <p:nvPicPr>
          <p:cNvPr id="13" name="Image 4" descr="preencoded.png"/>
          <p:cNvPicPr>
            <a:picLocks noChangeAspect="1"/>
          </p:cNvPicPr>
          <p:nvPr/>
        </p:nvPicPr>
        <p:blipFill>
          <a:blip r:embed="rId9"/>
          <a:stretch>
            <a:fillRect/>
          </a:stretch>
        </p:blipFill>
        <p:spPr>
          <a:xfrm>
            <a:off x="5012293" y="2678549"/>
            <a:ext cx="4605814" cy="4605814"/>
          </a:xfrm>
          <a:prstGeom prst="rect">
            <a:avLst/>
          </a:prstGeom>
        </p:spPr>
      </p:pic>
      <p:pic>
        <p:nvPicPr>
          <p:cNvPr id="14"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53425" y="4833699"/>
            <a:ext cx="295394" cy="295394"/>
          </a:xfrm>
          <a:prstGeom prst="rect">
            <a:avLst/>
          </a:prstGeom>
        </p:spPr>
      </p:pic>
      <p:sp>
        <p:nvSpPr>
          <p:cNvPr id="15" name="Text 7"/>
          <p:cNvSpPr/>
          <p:nvPr/>
        </p:nvSpPr>
        <p:spPr>
          <a:xfrm>
            <a:off x="9618107" y="6028134"/>
            <a:ext cx="2996922" cy="328255"/>
          </a:xfrm>
          <a:prstGeom prst="rect">
            <a:avLst/>
          </a:prstGeom>
          <a:noFill/>
          <a:ln/>
        </p:spPr>
        <p:txBody>
          <a:bodyPr wrap="none" lIns="0" tIns="0" rIns="0" bIns="0" rtlCol="0" anchor="t"/>
          <a:lstStyle/>
          <a:p>
            <a:pPr marL="0" indent="0" algn="l">
              <a:lnSpc>
                <a:spcPts val="25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Quản Lý Tài Khoản</a:t>
            </a:r>
            <a:endParaRPr lang="en-US" sz="2400" dirty="0">
              <a:latin typeface="Arial" panose="020B0604020202020204" pitchFamily="34" charset="0"/>
              <a:cs typeface="Arial" panose="020B0604020202020204" pitchFamily="34" charset="0"/>
            </a:endParaRPr>
          </a:p>
        </p:txBody>
      </p:sp>
      <p:sp>
        <p:nvSpPr>
          <p:cNvPr id="16" name="Text 8"/>
          <p:cNvSpPr/>
          <p:nvPr/>
        </p:nvSpPr>
        <p:spPr>
          <a:xfrm>
            <a:off x="9618107" y="6482358"/>
            <a:ext cx="4276844" cy="1008698"/>
          </a:xfrm>
          <a:prstGeom prst="rect">
            <a:avLst/>
          </a:prstGeom>
          <a:noFill/>
          <a:ln/>
        </p:spPr>
        <p:txBody>
          <a:bodyPr wrap="square" lIns="0" tIns="0" rIns="0" bIns="0" rtlCol="0" anchor="t"/>
          <a:lstStyle/>
          <a:p>
            <a:pPr marL="0" indent="0" algn="l">
              <a:lnSpc>
                <a:spcPts val="2600"/>
              </a:lnSpc>
              <a:buNone/>
            </a:pPr>
            <a:r>
              <a:rPr lang="en-US" sz="1650" dirty="0">
                <a:solidFill>
                  <a:srgbClr val="333F70"/>
                </a:solidFill>
                <a:latin typeface="Arial" panose="020B0604020202020204" pitchFamily="34" charset="0"/>
                <a:ea typeface="Open Sans" pitchFamily="34" charset="-122"/>
                <a:cs typeface="Arial" panose="020B0604020202020204" pitchFamily="34" charset="0"/>
              </a:rPr>
              <a:t>Cung cấp tính năng đăng ký, đăng nhập và quản lý thông tin cá nhân, </a:t>
            </a:r>
            <a:r>
              <a:rPr lang="en-US" sz="1650" dirty="0" err="1">
                <a:solidFill>
                  <a:srgbClr val="333F70"/>
                </a:solidFill>
                <a:latin typeface="Arial" panose="020B0604020202020204" pitchFamily="34" charset="0"/>
                <a:ea typeface="Open Sans" pitchFamily="34" charset="-122"/>
                <a:cs typeface="Arial" panose="020B0604020202020204" pitchFamily="34" charset="0"/>
              </a:rPr>
              <a:t>đơn</a:t>
            </a:r>
            <a:r>
              <a:rPr lang="en-US" sz="1650" dirty="0">
                <a:solidFill>
                  <a:srgbClr val="333F70"/>
                </a:solidFill>
                <a:latin typeface="Arial" panose="020B0604020202020204" pitchFamily="34" charset="0"/>
                <a:ea typeface="Open Sans" pitchFamily="34" charset="-122"/>
                <a:cs typeface="Arial" panose="020B0604020202020204" pitchFamily="34" charset="0"/>
              </a:rPr>
              <a:t> </a:t>
            </a:r>
            <a:r>
              <a:rPr lang="en-US" sz="1650" dirty="0" err="1">
                <a:solidFill>
                  <a:srgbClr val="333F70"/>
                </a:solidFill>
                <a:latin typeface="Arial" panose="020B0604020202020204" pitchFamily="34" charset="0"/>
                <a:ea typeface="Open Sans" pitchFamily="34" charset="-122"/>
                <a:cs typeface="Arial" panose="020B0604020202020204" pitchFamily="34" charset="0"/>
              </a:rPr>
              <a:t>hàng</a:t>
            </a:r>
            <a:r>
              <a:rPr lang="en-US" sz="1650" dirty="0">
                <a:solidFill>
                  <a:srgbClr val="333F70"/>
                </a:solidFill>
                <a:latin typeface="Arial" panose="020B0604020202020204" pitchFamily="34" charset="0"/>
                <a:ea typeface="Open Sans" pitchFamily="34" charset="-122"/>
                <a:cs typeface="Arial" panose="020B0604020202020204" pitchFamily="34" charset="0"/>
              </a:rPr>
              <a:t> </a:t>
            </a:r>
            <a:r>
              <a:rPr lang="en-US" sz="1650" dirty="0" err="1">
                <a:solidFill>
                  <a:srgbClr val="333F70"/>
                </a:solidFill>
                <a:latin typeface="Arial" panose="020B0604020202020204" pitchFamily="34" charset="0"/>
                <a:ea typeface="Open Sans" pitchFamily="34" charset="-122"/>
                <a:cs typeface="Arial" panose="020B0604020202020204" pitchFamily="34" charset="0"/>
              </a:rPr>
              <a:t>cho</a:t>
            </a:r>
            <a:r>
              <a:rPr lang="en-US" sz="1650" dirty="0">
                <a:solidFill>
                  <a:srgbClr val="333F70"/>
                </a:solidFill>
                <a:latin typeface="Arial" panose="020B0604020202020204" pitchFamily="34" charset="0"/>
                <a:ea typeface="Open Sans" pitchFamily="34" charset="-122"/>
                <a:cs typeface="Arial" panose="020B0604020202020204" pitchFamily="34" charset="0"/>
              </a:rPr>
              <a:t> người dùng.</a:t>
            </a:r>
            <a:endParaRPr lang="en-US" sz="1650" dirty="0">
              <a:latin typeface="Arial" panose="020B0604020202020204" pitchFamily="34" charset="0"/>
              <a:cs typeface="Arial" panose="020B0604020202020204" pitchFamily="34" charset="0"/>
            </a:endParaRPr>
          </a:p>
        </p:txBody>
      </p:sp>
      <p:pic>
        <p:nvPicPr>
          <p:cNvPr id="17" name="Image 6" descr="preencoded.png"/>
          <p:cNvPicPr>
            <a:picLocks noChangeAspect="1"/>
          </p:cNvPicPr>
          <p:nvPr/>
        </p:nvPicPr>
        <p:blipFill>
          <a:blip r:embed="rId12"/>
          <a:stretch>
            <a:fillRect/>
          </a:stretch>
        </p:blipFill>
        <p:spPr>
          <a:xfrm>
            <a:off x="5012293" y="2678549"/>
            <a:ext cx="4605814" cy="4605814"/>
          </a:xfrm>
          <a:prstGeom prst="rect">
            <a:avLst/>
          </a:prstGeom>
        </p:spPr>
      </p:pic>
      <p:pic>
        <p:nvPicPr>
          <p:cNvPr id="18"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60375" y="5860733"/>
            <a:ext cx="295394" cy="295394"/>
          </a:xfrm>
          <a:prstGeom prst="rect">
            <a:avLst/>
          </a:prstGeom>
        </p:spPr>
      </p:pic>
      <p:sp>
        <p:nvSpPr>
          <p:cNvPr id="19" name="Text 9"/>
          <p:cNvSpPr/>
          <p:nvPr/>
        </p:nvSpPr>
        <p:spPr>
          <a:xfrm>
            <a:off x="1474589" y="6028134"/>
            <a:ext cx="3537704" cy="328255"/>
          </a:xfrm>
          <a:prstGeom prst="rect">
            <a:avLst/>
          </a:prstGeom>
          <a:noFill/>
          <a:ln/>
        </p:spPr>
        <p:txBody>
          <a:bodyPr wrap="none" lIns="0" tIns="0" rIns="0" bIns="0" rtlCol="0" anchor="t"/>
          <a:lstStyle/>
          <a:p>
            <a:pPr marL="0" indent="0" algn="r">
              <a:lnSpc>
                <a:spcPts val="25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Trang Quản Trị Admin</a:t>
            </a:r>
            <a:endParaRPr lang="en-US" sz="2400" dirty="0">
              <a:latin typeface="Arial" panose="020B0604020202020204" pitchFamily="34" charset="0"/>
              <a:cs typeface="Arial" panose="020B0604020202020204" pitchFamily="34" charset="0"/>
            </a:endParaRPr>
          </a:p>
        </p:txBody>
      </p:sp>
      <p:sp>
        <p:nvSpPr>
          <p:cNvPr id="20" name="Text 10"/>
          <p:cNvSpPr/>
          <p:nvPr/>
        </p:nvSpPr>
        <p:spPr>
          <a:xfrm>
            <a:off x="735449" y="6482358"/>
            <a:ext cx="4276844" cy="1008698"/>
          </a:xfrm>
          <a:prstGeom prst="rect">
            <a:avLst/>
          </a:prstGeom>
          <a:noFill/>
          <a:ln/>
        </p:spPr>
        <p:txBody>
          <a:bodyPr wrap="square" lIns="0" tIns="0" rIns="0" bIns="0" rtlCol="0" anchor="t"/>
          <a:lstStyle/>
          <a:p>
            <a:pPr marL="0" indent="0" algn="r">
              <a:lnSpc>
                <a:spcPts val="2600"/>
              </a:lnSpc>
              <a:buNone/>
            </a:pPr>
            <a:r>
              <a:rPr lang="en-US" sz="1650" dirty="0">
                <a:solidFill>
                  <a:srgbClr val="333F70"/>
                </a:solidFill>
                <a:latin typeface="Arial" panose="020B0604020202020204" pitchFamily="34" charset="0"/>
                <a:ea typeface="Open Sans" pitchFamily="34" charset="-122"/>
                <a:cs typeface="Arial" panose="020B0604020202020204" pitchFamily="34" charset="0"/>
              </a:rPr>
              <a:t>Phát triển giao diện quản trị giúp Admin dễ dàng quản lý sản phẩm, đơn hàng, khách hàng và mã khuyến mãi.</a:t>
            </a:r>
            <a:endParaRPr lang="en-US" sz="1650" dirty="0">
              <a:latin typeface="Arial" panose="020B0604020202020204" pitchFamily="34" charset="0"/>
              <a:cs typeface="Arial" panose="020B0604020202020204" pitchFamily="34" charset="0"/>
            </a:endParaRPr>
          </a:p>
        </p:txBody>
      </p:sp>
      <p:pic>
        <p:nvPicPr>
          <p:cNvPr id="21" name="Image 8" descr="preencoded.png"/>
          <p:cNvPicPr>
            <a:picLocks noChangeAspect="1"/>
          </p:cNvPicPr>
          <p:nvPr/>
        </p:nvPicPr>
        <p:blipFill>
          <a:blip r:embed="rId15"/>
          <a:stretch>
            <a:fillRect/>
          </a:stretch>
        </p:blipFill>
        <p:spPr>
          <a:xfrm>
            <a:off x="5012293" y="2678549"/>
            <a:ext cx="4605814" cy="4605814"/>
          </a:xfrm>
          <a:prstGeom prst="rect">
            <a:avLst/>
          </a:prstGeom>
        </p:spPr>
      </p:pic>
      <p:pic>
        <p:nvPicPr>
          <p:cNvPr id="22"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74393" y="5860733"/>
            <a:ext cx="295394" cy="295394"/>
          </a:xfrm>
          <a:prstGeom prst="rect">
            <a:avLst/>
          </a:prstGeom>
        </p:spPr>
      </p:pic>
      <p:sp>
        <p:nvSpPr>
          <p:cNvPr id="23" name="Text 11"/>
          <p:cNvSpPr/>
          <p:nvPr/>
        </p:nvSpPr>
        <p:spPr>
          <a:xfrm>
            <a:off x="938570" y="4250055"/>
            <a:ext cx="3653552" cy="328255"/>
          </a:xfrm>
          <a:prstGeom prst="rect">
            <a:avLst/>
          </a:prstGeom>
          <a:noFill/>
          <a:ln/>
        </p:spPr>
        <p:txBody>
          <a:bodyPr wrap="none" lIns="0" tIns="0" rIns="0" bIns="0" rtlCol="0" anchor="t"/>
          <a:lstStyle/>
          <a:p>
            <a:pPr marL="0" indent="0" algn="r">
              <a:lnSpc>
                <a:spcPts val="25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Nâng Cao Trải Nghiệm</a:t>
            </a:r>
            <a:endParaRPr lang="en-US" sz="2400" dirty="0">
              <a:latin typeface="Arial" panose="020B0604020202020204" pitchFamily="34" charset="0"/>
              <a:cs typeface="Arial" panose="020B0604020202020204" pitchFamily="34" charset="0"/>
            </a:endParaRPr>
          </a:p>
        </p:txBody>
      </p:sp>
      <p:sp>
        <p:nvSpPr>
          <p:cNvPr id="24" name="Text 12"/>
          <p:cNvSpPr/>
          <p:nvPr/>
        </p:nvSpPr>
        <p:spPr>
          <a:xfrm>
            <a:off x="735449" y="4704278"/>
            <a:ext cx="3856673" cy="1008698"/>
          </a:xfrm>
          <a:prstGeom prst="rect">
            <a:avLst/>
          </a:prstGeom>
          <a:noFill/>
          <a:ln/>
        </p:spPr>
        <p:txBody>
          <a:bodyPr wrap="square" lIns="0" tIns="0" rIns="0" bIns="0" rtlCol="0" anchor="t"/>
          <a:lstStyle/>
          <a:p>
            <a:pPr marL="0" indent="0" algn="r">
              <a:lnSpc>
                <a:spcPts val="2600"/>
              </a:lnSpc>
              <a:buNone/>
            </a:pPr>
            <a:r>
              <a:rPr lang="en-US" sz="1650" dirty="0">
                <a:solidFill>
                  <a:srgbClr val="333F70"/>
                </a:solidFill>
                <a:latin typeface="Arial" panose="020B0604020202020204" pitchFamily="34" charset="0"/>
                <a:ea typeface="Open Sans" pitchFamily="34" charset="-122"/>
                <a:cs typeface="Arial" panose="020B0604020202020204" pitchFamily="34" charset="0"/>
              </a:rPr>
              <a:t>Tối ưu hóa các dịch vụ như giới thiệu, tin tức, chi tiết sản phẩm để cung cấp thông tin đầy đủ và chính xác.</a:t>
            </a:r>
            <a:endParaRPr lang="en-US" sz="1650" dirty="0">
              <a:latin typeface="Arial" panose="020B0604020202020204" pitchFamily="34" charset="0"/>
              <a:cs typeface="Arial" panose="020B0604020202020204" pitchFamily="34" charset="0"/>
            </a:endParaRPr>
          </a:p>
        </p:txBody>
      </p:sp>
      <p:pic>
        <p:nvPicPr>
          <p:cNvPr id="25" name="Image 10" descr="preencoded.png"/>
          <p:cNvPicPr>
            <a:picLocks noChangeAspect="1"/>
          </p:cNvPicPr>
          <p:nvPr/>
        </p:nvPicPr>
        <p:blipFill>
          <a:blip r:embed="rId18"/>
          <a:stretch>
            <a:fillRect/>
          </a:stretch>
        </p:blipFill>
        <p:spPr>
          <a:xfrm>
            <a:off x="5012293" y="2678489"/>
            <a:ext cx="4605814" cy="4605814"/>
          </a:xfrm>
          <a:prstGeom prst="rect">
            <a:avLst/>
          </a:prstGeom>
        </p:spPr>
      </p:pic>
      <p:pic>
        <p:nvPicPr>
          <p:cNvPr id="26"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981343" y="4833699"/>
            <a:ext cx="295394" cy="295394"/>
          </a:xfrm>
          <a:prstGeom prst="rect">
            <a:avLst/>
          </a:prstGeom>
        </p:spPr>
      </p:pic>
      <p:sp>
        <p:nvSpPr>
          <p:cNvPr id="28" name="TextBox 27">
            <a:extLst>
              <a:ext uri="{FF2B5EF4-FFF2-40B4-BE49-F238E27FC236}">
                <a16:creationId xmlns:a16="http://schemas.microsoft.com/office/drawing/2014/main" id="{161052FA-AFA9-A8E8-8F44-8FB2D5F5E244}"/>
              </a:ext>
            </a:extLst>
          </p:cNvPr>
          <p:cNvSpPr txBox="1"/>
          <p:nvPr/>
        </p:nvSpPr>
        <p:spPr>
          <a:xfrm>
            <a:off x="14129028" y="7730957"/>
            <a:ext cx="401011" cy="369332"/>
          </a:xfrm>
          <a:prstGeom prst="rect">
            <a:avLst/>
          </a:prstGeom>
          <a:noFill/>
        </p:spPr>
        <p:txBody>
          <a:bodyPr wrap="square" rtlCol="0">
            <a:spAutoFit/>
          </a:bodyPr>
          <a:lstStyle/>
          <a:p>
            <a:r>
              <a:rPr lang="en-US"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7829" y="577691"/>
            <a:ext cx="13174742" cy="1299686"/>
          </a:xfrm>
          <a:prstGeom prst="rect">
            <a:avLst/>
          </a:prstGeom>
          <a:noFill/>
          <a:ln/>
        </p:spPr>
        <p:txBody>
          <a:bodyPr wrap="square" lIns="0" tIns="0" rIns="0" bIns="0" rtlCol="0" anchor="t"/>
          <a:lstStyle/>
          <a:p>
            <a:pPr marL="0" indent="0" algn="l">
              <a:lnSpc>
                <a:spcPts val="5100"/>
              </a:lnSpc>
              <a:buNone/>
            </a:pPr>
            <a:r>
              <a:rPr lang="en-US" sz="4050" b="1" dirty="0">
                <a:solidFill>
                  <a:srgbClr val="333F70"/>
                </a:solidFill>
                <a:latin typeface="Arial" panose="020B0604020202020204" pitchFamily="34" charset="0"/>
                <a:ea typeface="Unbounded Bold" pitchFamily="34" charset="-122"/>
                <a:cs typeface="Arial" panose="020B0604020202020204" pitchFamily="34" charset="0"/>
              </a:rPr>
              <a:t>Phạm Vi và Phương Pháp</a:t>
            </a:r>
            <a:endParaRPr lang="en-US" sz="4050" dirty="0">
              <a:latin typeface="Arial" panose="020B0604020202020204" pitchFamily="34" charset="0"/>
              <a:cs typeface="Arial" panose="020B0604020202020204" pitchFamily="34" charset="0"/>
            </a:endParaRPr>
          </a:p>
        </p:txBody>
      </p:sp>
      <p:sp>
        <p:nvSpPr>
          <p:cNvPr id="3" name="Shape 1"/>
          <p:cNvSpPr/>
          <p:nvPr/>
        </p:nvSpPr>
        <p:spPr>
          <a:xfrm>
            <a:off x="727829" y="2605088"/>
            <a:ext cx="6483429" cy="2263497"/>
          </a:xfrm>
          <a:prstGeom prst="roundRect">
            <a:avLst>
              <a:gd name="adj" fmla="val 4848"/>
            </a:avLst>
          </a:prstGeom>
          <a:solidFill>
            <a:srgbClr val="FFFFFF"/>
          </a:solidFill>
          <a:ln/>
        </p:spPr>
        <p:txBody>
          <a:bodyPr/>
          <a:lstStyle/>
          <a:p>
            <a:endParaRPr lang="en-US">
              <a:latin typeface="Arial" panose="020B0604020202020204" pitchFamily="34" charset="0"/>
              <a:cs typeface="Arial" panose="020B0604020202020204" pitchFamily="34" charset="0"/>
            </a:endParaRPr>
          </a:p>
        </p:txBody>
      </p:sp>
      <p:sp>
        <p:nvSpPr>
          <p:cNvPr id="4" name="Shape 2"/>
          <p:cNvSpPr/>
          <p:nvPr/>
        </p:nvSpPr>
        <p:spPr>
          <a:xfrm>
            <a:off x="727829" y="2582227"/>
            <a:ext cx="6483429" cy="91440"/>
          </a:xfrm>
          <a:prstGeom prst="roundRect">
            <a:avLst>
              <a:gd name="adj" fmla="val 95519"/>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sp>
        <p:nvSpPr>
          <p:cNvPr id="5" name="Shape 3"/>
          <p:cNvSpPr/>
          <p:nvPr/>
        </p:nvSpPr>
        <p:spPr>
          <a:xfrm>
            <a:off x="3657660" y="2293263"/>
            <a:ext cx="623768" cy="623768"/>
          </a:xfrm>
          <a:prstGeom prst="roundRect">
            <a:avLst>
              <a:gd name="adj" fmla="val 146593"/>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4826" y="2480429"/>
            <a:ext cx="249436" cy="249436"/>
          </a:xfrm>
          <a:prstGeom prst="rect">
            <a:avLst/>
          </a:prstGeom>
        </p:spPr>
      </p:pic>
      <p:sp>
        <p:nvSpPr>
          <p:cNvPr id="7" name="Text 4"/>
          <p:cNvSpPr/>
          <p:nvPr/>
        </p:nvSpPr>
        <p:spPr>
          <a:xfrm>
            <a:off x="958572" y="3124914"/>
            <a:ext cx="4290417" cy="389930"/>
          </a:xfrm>
          <a:prstGeom prst="rect">
            <a:avLst/>
          </a:prstGeom>
          <a:noFill/>
          <a:ln/>
        </p:spPr>
        <p:txBody>
          <a:bodyPr wrap="none" lIns="0" tIns="0" rIns="0" bIns="0" rtlCol="0" anchor="t"/>
          <a:lstStyle/>
          <a:p>
            <a:pPr marL="0" indent="0" algn="l">
              <a:lnSpc>
                <a:spcPts val="3050"/>
              </a:lnSpc>
              <a:buNone/>
            </a:pPr>
            <a:r>
              <a:rPr lang="en-US" sz="2450" b="1" dirty="0">
                <a:solidFill>
                  <a:srgbClr val="333F70"/>
                </a:solidFill>
                <a:latin typeface="Arial" panose="020B0604020202020204" pitchFamily="34" charset="0"/>
                <a:ea typeface="Unbounded Bold" pitchFamily="34" charset="-122"/>
                <a:cs typeface="Arial" panose="020B0604020202020204" pitchFamily="34" charset="0"/>
              </a:rPr>
              <a:t>Đối Tượng Nghiên Cứu</a:t>
            </a:r>
            <a:endParaRPr lang="en-US" sz="2450" dirty="0">
              <a:latin typeface="Arial" panose="020B0604020202020204" pitchFamily="34" charset="0"/>
              <a:cs typeface="Arial" panose="020B0604020202020204" pitchFamily="34" charset="0"/>
            </a:endParaRPr>
          </a:p>
        </p:txBody>
      </p:sp>
      <p:sp>
        <p:nvSpPr>
          <p:cNvPr id="8" name="Text 5"/>
          <p:cNvSpPr/>
          <p:nvPr/>
        </p:nvSpPr>
        <p:spPr>
          <a:xfrm>
            <a:off x="958572" y="3639503"/>
            <a:ext cx="6021943" cy="998339"/>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Tập trung vào khách hàng cá nhân có nhu cầu mua quà tặng, người yêu thích trang trí nội thất và phụ huynh tìm kiếm đồ chơi an toàn, phù hợp.</a:t>
            </a:r>
            <a:endParaRPr lang="en-US" sz="1600" dirty="0">
              <a:latin typeface="Arial" panose="020B0604020202020204" pitchFamily="34" charset="0"/>
              <a:cs typeface="Arial" panose="020B0604020202020204" pitchFamily="34" charset="0"/>
            </a:endParaRPr>
          </a:p>
        </p:txBody>
      </p:sp>
      <p:sp>
        <p:nvSpPr>
          <p:cNvPr id="9" name="Shape 6"/>
          <p:cNvSpPr/>
          <p:nvPr/>
        </p:nvSpPr>
        <p:spPr>
          <a:xfrm>
            <a:off x="7419142" y="2605088"/>
            <a:ext cx="6483429" cy="2263497"/>
          </a:xfrm>
          <a:prstGeom prst="roundRect">
            <a:avLst>
              <a:gd name="adj" fmla="val 4848"/>
            </a:avLst>
          </a:prstGeom>
          <a:solidFill>
            <a:srgbClr val="FFFFFF"/>
          </a:solidFill>
          <a:ln/>
        </p:spPr>
        <p:txBody>
          <a:bodyPr/>
          <a:lstStyle/>
          <a:p>
            <a:endParaRPr lang="en-US">
              <a:latin typeface="Arial" panose="020B0604020202020204" pitchFamily="34" charset="0"/>
              <a:cs typeface="Arial" panose="020B0604020202020204" pitchFamily="34" charset="0"/>
            </a:endParaRPr>
          </a:p>
        </p:txBody>
      </p:sp>
      <p:sp>
        <p:nvSpPr>
          <p:cNvPr id="10" name="Shape 7"/>
          <p:cNvSpPr/>
          <p:nvPr/>
        </p:nvSpPr>
        <p:spPr>
          <a:xfrm>
            <a:off x="7419142" y="2582227"/>
            <a:ext cx="6483429" cy="91440"/>
          </a:xfrm>
          <a:prstGeom prst="roundRect">
            <a:avLst>
              <a:gd name="adj" fmla="val 95519"/>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sp>
        <p:nvSpPr>
          <p:cNvPr id="11" name="Shape 8"/>
          <p:cNvSpPr/>
          <p:nvPr/>
        </p:nvSpPr>
        <p:spPr>
          <a:xfrm>
            <a:off x="10348972" y="2293263"/>
            <a:ext cx="623768" cy="623768"/>
          </a:xfrm>
          <a:prstGeom prst="roundRect">
            <a:avLst>
              <a:gd name="adj" fmla="val 146593"/>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36138" y="2480429"/>
            <a:ext cx="249436" cy="249436"/>
          </a:xfrm>
          <a:prstGeom prst="rect">
            <a:avLst/>
          </a:prstGeom>
        </p:spPr>
      </p:pic>
      <p:sp>
        <p:nvSpPr>
          <p:cNvPr id="13" name="Text 9"/>
          <p:cNvSpPr/>
          <p:nvPr/>
        </p:nvSpPr>
        <p:spPr>
          <a:xfrm>
            <a:off x="7649885" y="3124914"/>
            <a:ext cx="3915608" cy="389930"/>
          </a:xfrm>
          <a:prstGeom prst="rect">
            <a:avLst/>
          </a:prstGeom>
          <a:noFill/>
          <a:ln/>
        </p:spPr>
        <p:txBody>
          <a:bodyPr wrap="none" lIns="0" tIns="0" rIns="0" bIns="0" rtlCol="0" anchor="t"/>
          <a:lstStyle/>
          <a:p>
            <a:pPr marL="0" indent="0" algn="l">
              <a:lnSpc>
                <a:spcPts val="3050"/>
              </a:lnSpc>
              <a:buNone/>
            </a:pPr>
            <a:r>
              <a:rPr lang="en-US" sz="2450" b="1" dirty="0">
                <a:solidFill>
                  <a:srgbClr val="333F70"/>
                </a:solidFill>
                <a:latin typeface="Arial" panose="020B0604020202020204" pitchFamily="34" charset="0"/>
                <a:ea typeface="Unbounded Bold" pitchFamily="34" charset="-122"/>
                <a:cs typeface="Arial" panose="020B0604020202020204" pitchFamily="34" charset="0"/>
              </a:rPr>
              <a:t>Phạm Vi Nghiên Cứu</a:t>
            </a:r>
            <a:endParaRPr lang="en-US" sz="2450" dirty="0">
              <a:latin typeface="Arial" panose="020B0604020202020204" pitchFamily="34" charset="0"/>
              <a:cs typeface="Arial" panose="020B0604020202020204" pitchFamily="34" charset="0"/>
            </a:endParaRPr>
          </a:p>
        </p:txBody>
      </p:sp>
      <p:sp>
        <p:nvSpPr>
          <p:cNvPr id="14" name="Text 10"/>
          <p:cNvSpPr/>
          <p:nvPr/>
        </p:nvSpPr>
        <p:spPr>
          <a:xfrm>
            <a:off x="7649885" y="3639503"/>
            <a:ext cx="6021943" cy="998339"/>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Thiết kế và triển khai cửa hàng trực tuyến chuyên về quà tặng, phụ kiện, đồ chơi, phục vụ nhu cầu khách hàng tại khu vực Hưng Yên.</a:t>
            </a:r>
            <a:endParaRPr lang="en-US" sz="1600" dirty="0">
              <a:latin typeface="Arial" panose="020B0604020202020204" pitchFamily="34" charset="0"/>
              <a:cs typeface="Arial" panose="020B0604020202020204" pitchFamily="34" charset="0"/>
            </a:endParaRPr>
          </a:p>
        </p:txBody>
      </p:sp>
      <p:sp>
        <p:nvSpPr>
          <p:cNvPr id="15" name="Shape 11"/>
          <p:cNvSpPr/>
          <p:nvPr/>
        </p:nvSpPr>
        <p:spPr>
          <a:xfrm>
            <a:off x="727829" y="5388293"/>
            <a:ext cx="6483429" cy="2263497"/>
          </a:xfrm>
          <a:prstGeom prst="roundRect">
            <a:avLst>
              <a:gd name="adj" fmla="val 4848"/>
            </a:avLst>
          </a:prstGeom>
          <a:solidFill>
            <a:srgbClr val="FFFFFF"/>
          </a:solidFill>
          <a:ln/>
        </p:spPr>
        <p:txBody>
          <a:bodyPr/>
          <a:lstStyle/>
          <a:p>
            <a:endParaRPr lang="en-US">
              <a:latin typeface="Arial" panose="020B0604020202020204" pitchFamily="34" charset="0"/>
              <a:cs typeface="Arial" panose="020B0604020202020204" pitchFamily="34" charset="0"/>
            </a:endParaRPr>
          </a:p>
        </p:txBody>
      </p:sp>
      <p:sp>
        <p:nvSpPr>
          <p:cNvPr id="16" name="Shape 12"/>
          <p:cNvSpPr/>
          <p:nvPr/>
        </p:nvSpPr>
        <p:spPr>
          <a:xfrm>
            <a:off x="727829" y="5365432"/>
            <a:ext cx="6483429" cy="91440"/>
          </a:xfrm>
          <a:prstGeom prst="roundRect">
            <a:avLst>
              <a:gd name="adj" fmla="val 95519"/>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sp>
        <p:nvSpPr>
          <p:cNvPr id="17" name="Shape 13"/>
          <p:cNvSpPr/>
          <p:nvPr/>
        </p:nvSpPr>
        <p:spPr>
          <a:xfrm>
            <a:off x="3657660" y="5076468"/>
            <a:ext cx="623768" cy="623768"/>
          </a:xfrm>
          <a:prstGeom prst="roundRect">
            <a:avLst>
              <a:gd name="adj" fmla="val 146593"/>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4826" y="5263634"/>
            <a:ext cx="249436" cy="249436"/>
          </a:xfrm>
          <a:prstGeom prst="rect">
            <a:avLst/>
          </a:prstGeom>
        </p:spPr>
      </p:pic>
      <p:sp>
        <p:nvSpPr>
          <p:cNvPr id="19" name="Text 14"/>
          <p:cNvSpPr/>
          <p:nvPr/>
        </p:nvSpPr>
        <p:spPr>
          <a:xfrm>
            <a:off x="958572" y="5908119"/>
            <a:ext cx="3632478" cy="389930"/>
          </a:xfrm>
          <a:prstGeom prst="rect">
            <a:avLst/>
          </a:prstGeom>
          <a:noFill/>
          <a:ln/>
        </p:spPr>
        <p:txBody>
          <a:bodyPr wrap="none" lIns="0" tIns="0" rIns="0" bIns="0" rtlCol="0" anchor="t"/>
          <a:lstStyle/>
          <a:p>
            <a:pPr marL="0" indent="0" algn="l">
              <a:lnSpc>
                <a:spcPts val="3050"/>
              </a:lnSpc>
              <a:buNone/>
            </a:pPr>
            <a:r>
              <a:rPr lang="en-US" sz="2450" b="1" dirty="0">
                <a:solidFill>
                  <a:srgbClr val="333F70"/>
                </a:solidFill>
                <a:latin typeface="Arial" panose="020B0604020202020204" pitchFamily="34" charset="0"/>
                <a:ea typeface="Unbounded Bold" pitchFamily="34" charset="-122"/>
                <a:cs typeface="Arial" panose="020B0604020202020204" pitchFamily="34" charset="0"/>
              </a:rPr>
              <a:t>Phân Tích Nhu Cầu</a:t>
            </a:r>
            <a:endParaRPr lang="en-US" sz="2450" dirty="0">
              <a:latin typeface="Arial" panose="020B0604020202020204" pitchFamily="34" charset="0"/>
              <a:cs typeface="Arial" panose="020B0604020202020204" pitchFamily="34" charset="0"/>
            </a:endParaRPr>
          </a:p>
        </p:txBody>
      </p:sp>
      <p:sp>
        <p:nvSpPr>
          <p:cNvPr id="20" name="Text 15"/>
          <p:cNvSpPr/>
          <p:nvPr/>
        </p:nvSpPr>
        <p:spPr>
          <a:xfrm>
            <a:off x="958572" y="6422708"/>
            <a:ext cx="6021943" cy="998339"/>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Khảo sát thói quen mua sắm, hành vi tiêu dùng và các yếu tố ảnh hưởng đến quyết định mua hàng trực tuyến của khách hàng mục tiêu.</a:t>
            </a:r>
            <a:endParaRPr lang="en-US" sz="1600" dirty="0">
              <a:latin typeface="Arial" panose="020B0604020202020204" pitchFamily="34" charset="0"/>
              <a:cs typeface="Arial" panose="020B0604020202020204" pitchFamily="34" charset="0"/>
            </a:endParaRPr>
          </a:p>
        </p:txBody>
      </p:sp>
      <p:sp>
        <p:nvSpPr>
          <p:cNvPr id="21" name="Shape 16"/>
          <p:cNvSpPr/>
          <p:nvPr/>
        </p:nvSpPr>
        <p:spPr>
          <a:xfrm>
            <a:off x="7419142" y="5388293"/>
            <a:ext cx="6483429" cy="2263497"/>
          </a:xfrm>
          <a:prstGeom prst="roundRect">
            <a:avLst>
              <a:gd name="adj" fmla="val 4848"/>
            </a:avLst>
          </a:prstGeom>
          <a:solidFill>
            <a:srgbClr val="FFFFFF"/>
          </a:solidFill>
          <a:ln/>
        </p:spPr>
        <p:txBody>
          <a:bodyPr/>
          <a:lstStyle/>
          <a:p>
            <a:endParaRPr lang="en-US" dirty="0">
              <a:latin typeface="Arial" panose="020B0604020202020204" pitchFamily="34" charset="0"/>
              <a:cs typeface="Arial" panose="020B0604020202020204" pitchFamily="34" charset="0"/>
            </a:endParaRPr>
          </a:p>
        </p:txBody>
      </p:sp>
      <p:sp>
        <p:nvSpPr>
          <p:cNvPr id="22" name="Shape 17"/>
          <p:cNvSpPr/>
          <p:nvPr/>
        </p:nvSpPr>
        <p:spPr>
          <a:xfrm>
            <a:off x="7419142" y="5365432"/>
            <a:ext cx="6483429" cy="91440"/>
          </a:xfrm>
          <a:prstGeom prst="roundRect">
            <a:avLst>
              <a:gd name="adj" fmla="val 95519"/>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sp>
        <p:nvSpPr>
          <p:cNvPr id="23" name="Shape 18"/>
          <p:cNvSpPr/>
          <p:nvPr/>
        </p:nvSpPr>
        <p:spPr>
          <a:xfrm>
            <a:off x="10348972" y="5076468"/>
            <a:ext cx="623768" cy="623768"/>
          </a:xfrm>
          <a:prstGeom prst="roundRect">
            <a:avLst>
              <a:gd name="adj" fmla="val 146593"/>
            </a:avLst>
          </a:prstGeom>
          <a:solidFill>
            <a:srgbClr val="26A688"/>
          </a:solidFill>
          <a:ln/>
        </p:spPr>
        <p:txBody>
          <a:bodyPr/>
          <a:lstStyle/>
          <a:p>
            <a:endParaRPr lang="en-US">
              <a:latin typeface="Arial" panose="020B0604020202020204" pitchFamily="34" charset="0"/>
              <a:cs typeface="Arial" panose="020B0604020202020204" pitchFamily="34" charset="0"/>
            </a:endParaRPr>
          </a:p>
        </p:txBody>
      </p:sp>
      <p:pic>
        <p:nvPicPr>
          <p:cNvPr id="2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36138" y="5263634"/>
            <a:ext cx="249436" cy="249436"/>
          </a:xfrm>
          <a:prstGeom prst="rect">
            <a:avLst/>
          </a:prstGeom>
        </p:spPr>
      </p:pic>
      <p:sp>
        <p:nvSpPr>
          <p:cNvPr id="25" name="Text 19"/>
          <p:cNvSpPr/>
          <p:nvPr/>
        </p:nvSpPr>
        <p:spPr>
          <a:xfrm>
            <a:off x="7649885" y="5908119"/>
            <a:ext cx="3718917" cy="389930"/>
          </a:xfrm>
          <a:prstGeom prst="rect">
            <a:avLst/>
          </a:prstGeom>
          <a:noFill/>
          <a:ln/>
        </p:spPr>
        <p:txBody>
          <a:bodyPr wrap="none" lIns="0" tIns="0" rIns="0" bIns="0" rtlCol="0" anchor="t"/>
          <a:lstStyle/>
          <a:p>
            <a:pPr marL="0" indent="0" algn="l">
              <a:lnSpc>
                <a:spcPts val="3050"/>
              </a:lnSpc>
              <a:buNone/>
            </a:pPr>
            <a:r>
              <a:rPr lang="en-US" sz="2450" b="1" dirty="0">
                <a:solidFill>
                  <a:srgbClr val="333F70"/>
                </a:solidFill>
                <a:latin typeface="Arial" panose="020B0604020202020204" pitchFamily="34" charset="0"/>
                <a:ea typeface="Unbounded Bold" pitchFamily="34" charset="-122"/>
                <a:cs typeface="Arial" panose="020B0604020202020204" pitchFamily="34" charset="0"/>
              </a:rPr>
              <a:t>Công Cụ Phát Triển</a:t>
            </a:r>
            <a:endParaRPr lang="en-US" sz="2450" dirty="0">
              <a:latin typeface="Arial" panose="020B0604020202020204" pitchFamily="34" charset="0"/>
              <a:cs typeface="Arial" panose="020B0604020202020204" pitchFamily="34" charset="0"/>
            </a:endParaRPr>
          </a:p>
        </p:txBody>
      </p:sp>
      <p:sp>
        <p:nvSpPr>
          <p:cNvPr id="26" name="Text 20"/>
          <p:cNvSpPr/>
          <p:nvPr/>
        </p:nvSpPr>
        <p:spPr>
          <a:xfrm>
            <a:off x="7649885" y="6422708"/>
            <a:ext cx="6021943" cy="665559"/>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Sử dụng HTML, CSS, JavaScript để xây dựng giao diện và các chức năng của website, với sự hỗ trợ của Visual Studio Code.</a:t>
            </a:r>
            <a:endParaRPr lang="en-US" sz="16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377B6490-DE22-19BC-42B3-79BA41AA64E7}"/>
              </a:ext>
            </a:extLst>
          </p:cNvPr>
          <p:cNvSpPr txBox="1"/>
          <p:nvPr/>
        </p:nvSpPr>
        <p:spPr>
          <a:xfrm>
            <a:off x="14129028" y="7730957"/>
            <a:ext cx="401011" cy="369332"/>
          </a:xfrm>
          <a:prstGeom prst="rect">
            <a:avLst/>
          </a:prstGeom>
          <a:noFill/>
        </p:spPr>
        <p:txBody>
          <a:bodyPr wrap="square" rtlCol="0">
            <a:spAutoFit/>
          </a:bodyPr>
          <a:lstStyle/>
          <a:p>
            <a:r>
              <a:rPr lang="en-US"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0226" y="1169550"/>
            <a:ext cx="13292852" cy="1194435"/>
          </a:xfrm>
          <a:prstGeom prst="rect">
            <a:avLst/>
          </a:prstGeom>
          <a:noFill/>
          <a:ln/>
        </p:spPr>
        <p:txBody>
          <a:bodyPr wrap="square" lIns="0" tIns="0" rIns="0" bIns="0" rtlCol="0" anchor="t"/>
          <a:lstStyle/>
          <a:p>
            <a:pPr marL="0" indent="0" algn="l">
              <a:lnSpc>
                <a:spcPts val="4700"/>
              </a:lnSpc>
              <a:buNone/>
            </a:pPr>
            <a:r>
              <a:rPr lang="en-US" sz="3750" b="1" dirty="0">
                <a:solidFill>
                  <a:srgbClr val="333F70"/>
                </a:solidFill>
                <a:latin typeface="Arial" panose="020B0604020202020204" pitchFamily="34" charset="0"/>
                <a:ea typeface="Unbounded Bold" pitchFamily="34" charset="-122"/>
                <a:cs typeface="Arial" panose="020B0604020202020204" pitchFamily="34" charset="0"/>
              </a:rPr>
              <a:t>Cơ Sở Lý Thuyết: Nền Tảng Công Nghệ và Quy Trình</a:t>
            </a:r>
            <a:endParaRPr lang="en-US" sz="3750" dirty="0">
              <a:latin typeface="Arial" panose="020B0604020202020204" pitchFamily="34" charset="0"/>
              <a:cs typeface="Arial" panose="020B0604020202020204" pitchFamily="34" charset="0"/>
            </a:endParaRPr>
          </a:p>
        </p:txBody>
      </p:sp>
      <p:sp>
        <p:nvSpPr>
          <p:cNvPr id="3" name="Shape 1"/>
          <p:cNvSpPr/>
          <p:nvPr/>
        </p:nvSpPr>
        <p:spPr>
          <a:xfrm>
            <a:off x="780286" y="3343394"/>
            <a:ext cx="13292852" cy="2154157"/>
          </a:xfrm>
          <a:prstGeom prst="roundRect">
            <a:avLst>
              <a:gd name="adj" fmla="val 4645"/>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4" name="Shape 2"/>
          <p:cNvSpPr/>
          <p:nvPr/>
        </p:nvSpPr>
        <p:spPr>
          <a:xfrm>
            <a:off x="787906" y="3351014"/>
            <a:ext cx="4425791" cy="1712595"/>
          </a:xfrm>
          <a:prstGeom prst="roundRect">
            <a:avLst>
              <a:gd name="adj" fmla="val 4687"/>
            </a:avLst>
          </a:prstGeom>
          <a:solidFill>
            <a:srgbClr val="D6F5EE"/>
          </a:solidFill>
          <a:ln/>
        </p:spPr>
        <p:txBody>
          <a:bodyPr/>
          <a:lstStyle/>
          <a:p>
            <a:endParaRPr lang="en-US">
              <a:latin typeface="Arial" panose="020B0604020202020204" pitchFamily="34" charset="0"/>
              <a:cs typeface="Arial" panose="020B0604020202020204" pitchFamily="34" charset="0"/>
            </a:endParaRPr>
          </a:p>
        </p:txBody>
      </p:sp>
      <p:sp>
        <p:nvSpPr>
          <p:cNvPr id="5" name="Text 3"/>
          <p:cNvSpPr/>
          <p:nvPr/>
        </p:nvSpPr>
        <p:spPr>
          <a:xfrm>
            <a:off x="979001" y="3542109"/>
            <a:ext cx="2388751" cy="298490"/>
          </a:xfrm>
          <a:prstGeom prst="rect">
            <a:avLst/>
          </a:prstGeom>
          <a:noFill/>
          <a:ln/>
        </p:spPr>
        <p:txBody>
          <a:bodyPr wrap="none" lIns="0" tIns="0" rIns="0" bIns="0" rtlCol="0" anchor="t"/>
          <a:lstStyle/>
          <a:p>
            <a:pPr marL="0" indent="0" algn="l">
              <a:lnSpc>
                <a:spcPts val="23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HTML</a:t>
            </a:r>
            <a:endParaRPr lang="en-US" sz="2400" dirty="0">
              <a:latin typeface="Arial" panose="020B0604020202020204" pitchFamily="34" charset="0"/>
              <a:cs typeface="Arial" panose="020B0604020202020204" pitchFamily="34" charset="0"/>
            </a:endParaRPr>
          </a:p>
        </p:txBody>
      </p:sp>
      <p:sp>
        <p:nvSpPr>
          <p:cNvPr id="6" name="Text 4"/>
          <p:cNvSpPr/>
          <p:nvPr/>
        </p:nvSpPr>
        <p:spPr>
          <a:xfrm>
            <a:off x="979001" y="3955256"/>
            <a:ext cx="3757017" cy="917258"/>
          </a:xfrm>
          <a:prstGeom prst="rect">
            <a:avLst/>
          </a:prstGeom>
          <a:noFill/>
          <a:ln/>
        </p:spPr>
        <p:txBody>
          <a:bodyPr wrap="square" lIns="0" tIns="0" rIns="0" bIns="0" rtlCol="0" anchor="t"/>
          <a:lstStyle/>
          <a:p>
            <a:pPr marL="0" indent="0" algn="l">
              <a:lnSpc>
                <a:spcPts val="240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Ngôn ngữ đánh dấu siêu văn bản, dùng để mô tả cấu trúc và nội dung cơ bản của một trang web.</a:t>
            </a:r>
            <a:endParaRPr lang="en-US" dirty="0">
              <a:latin typeface="Arial" panose="020B0604020202020204" pitchFamily="34" charset="0"/>
              <a:cs typeface="Arial" panose="020B0604020202020204" pitchFamily="34" charset="0"/>
            </a:endParaRPr>
          </a:p>
        </p:txBody>
      </p:sp>
      <p:sp>
        <p:nvSpPr>
          <p:cNvPr id="7" name="Shape 5"/>
          <p:cNvSpPr/>
          <p:nvPr/>
        </p:nvSpPr>
        <p:spPr>
          <a:xfrm>
            <a:off x="5213697" y="3351014"/>
            <a:ext cx="4425910" cy="1712595"/>
          </a:xfrm>
          <a:prstGeom prst="rect">
            <a:avLst/>
          </a:prstGeom>
          <a:solidFill>
            <a:srgbClr val="D6F5EE"/>
          </a:solidFill>
          <a:ln/>
        </p:spPr>
        <p:txBody>
          <a:bodyPr/>
          <a:lstStyle/>
          <a:p>
            <a:endParaRPr lang="en-US">
              <a:latin typeface="Arial" panose="020B0604020202020204" pitchFamily="34" charset="0"/>
              <a:cs typeface="Arial" panose="020B0604020202020204" pitchFamily="34" charset="0"/>
            </a:endParaRPr>
          </a:p>
        </p:txBody>
      </p:sp>
      <p:sp>
        <p:nvSpPr>
          <p:cNvPr id="8" name="Shape 6"/>
          <p:cNvSpPr/>
          <p:nvPr/>
        </p:nvSpPr>
        <p:spPr>
          <a:xfrm flipH="1">
            <a:off x="5167978" y="3351014"/>
            <a:ext cx="45719" cy="2154157"/>
          </a:xfrm>
          <a:prstGeom prst="roundRect">
            <a:avLst>
              <a:gd name="adj" fmla="val 351118"/>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9" name="Text 7"/>
          <p:cNvSpPr/>
          <p:nvPr/>
        </p:nvSpPr>
        <p:spPr>
          <a:xfrm>
            <a:off x="5691376" y="3542109"/>
            <a:ext cx="2388751" cy="298490"/>
          </a:xfrm>
          <a:prstGeom prst="rect">
            <a:avLst/>
          </a:prstGeom>
          <a:noFill/>
          <a:ln/>
        </p:spPr>
        <p:txBody>
          <a:bodyPr wrap="none" lIns="0" tIns="0" rIns="0" bIns="0" rtlCol="0" anchor="t"/>
          <a:lstStyle/>
          <a:p>
            <a:pPr marL="0" indent="0" algn="l">
              <a:lnSpc>
                <a:spcPts val="23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CSS</a:t>
            </a:r>
            <a:endParaRPr lang="en-US" sz="2400" dirty="0">
              <a:latin typeface="Arial" panose="020B0604020202020204" pitchFamily="34" charset="0"/>
              <a:cs typeface="Arial" panose="020B0604020202020204" pitchFamily="34" charset="0"/>
            </a:endParaRPr>
          </a:p>
        </p:txBody>
      </p:sp>
      <p:sp>
        <p:nvSpPr>
          <p:cNvPr id="10" name="Text 8"/>
          <p:cNvSpPr/>
          <p:nvPr/>
        </p:nvSpPr>
        <p:spPr>
          <a:xfrm>
            <a:off x="5691376" y="3955256"/>
            <a:ext cx="3470553" cy="917258"/>
          </a:xfrm>
          <a:prstGeom prst="rect">
            <a:avLst/>
          </a:prstGeom>
          <a:noFill/>
          <a:ln/>
        </p:spPr>
        <p:txBody>
          <a:bodyPr wrap="square" lIns="0" tIns="0" rIns="0" bIns="0" rtlCol="0" anchor="t"/>
          <a:lstStyle/>
          <a:p>
            <a:pPr marL="0" indent="0" algn="l">
              <a:lnSpc>
                <a:spcPts val="240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Ngôn ngữ định kiểu, dùng để tạo bố cục và giao diện đẹp mắt cho trang web, tách biệt nội dung và trình bày.</a:t>
            </a:r>
            <a:endParaRPr lang="en-US" dirty="0">
              <a:latin typeface="Arial" panose="020B0604020202020204" pitchFamily="34" charset="0"/>
              <a:cs typeface="Arial" panose="020B0604020202020204" pitchFamily="34" charset="0"/>
            </a:endParaRPr>
          </a:p>
        </p:txBody>
      </p:sp>
      <p:sp>
        <p:nvSpPr>
          <p:cNvPr id="13" name="Shape 10"/>
          <p:cNvSpPr/>
          <p:nvPr/>
        </p:nvSpPr>
        <p:spPr>
          <a:xfrm>
            <a:off x="9782899" y="3351014"/>
            <a:ext cx="4290240" cy="1712595"/>
          </a:xfrm>
          <a:prstGeom prst="rect">
            <a:avLst/>
          </a:prstGeom>
          <a:solidFill>
            <a:srgbClr val="D6F5EE"/>
          </a:solidFill>
          <a:ln/>
        </p:spPr>
        <p:txBody>
          <a:bodyPr/>
          <a:lstStyle/>
          <a:p>
            <a:endParaRPr lang="en-US">
              <a:latin typeface="Arial" panose="020B0604020202020204" pitchFamily="34" charset="0"/>
              <a:cs typeface="Arial" panose="020B0604020202020204" pitchFamily="34" charset="0"/>
            </a:endParaRPr>
          </a:p>
        </p:txBody>
      </p:sp>
      <p:sp>
        <p:nvSpPr>
          <p:cNvPr id="14" name="Shape 11"/>
          <p:cNvSpPr/>
          <p:nvPr/>
        </p:nvSpPr>
        <p:spPr>
          <a:xfrm>
            <a:off x="9639607" y="3351014"/>
            <a:ext cx="45719" cy="2146537"/>
          </a:xfrm>
          <a:prstGeom prst="roundRect">
            <a:avLst>
              <a:gd name="adj" fmla="val 351118"/>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15" name="Text 12"/>
          <p:cNvSpPr/>
          <p:nvPr/>
        </p:nvSpPr>
        <p:spPr>
          <a:xfrm>
            <a:off x="10117286" y="3542109"/>
            <a:ext cx="2388751" cy="298490"/>
          </a:xfrm>
          <a:prstGeom prst="rect">
            <a:avLst/>
          </a:prstGeom>
          <a:noFill/>
          <a:ln/>
        </p:spPr>
        <p:txBody>
          <a:bodyPr wrap="none" lIns="0" tIns="0" rIns="0" bIns="0" rtlCol="0" anchor="t"/>
          <a:lstStyle/>
          <a:p>
            <a:pPr marL="0" indent="0" algn="l">
              <a:lnSpc>
                <a:spcPts val="235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JavaScript</a:t>
            </a:r>
            <a:endParaRPr lang="en-US" sz="2400" dirty="0">
              <a:latin typeface="Arial" panose="020B0604020202020204" pitchFamily="34" charset="0"/>
              <a:cs typeface="Arial" panose="020B0604020202020204" pitchFamily="34" charset="0"/>
            </a:endParaRPr>
          </a:p>
        </p:txBody>
      </p:sp>
      <p:sp>
        <p:nvSpPr>
          <p:cNvPr id="16" name="Text 13"/>
          <p:cNvSpPr/>
          <p:nvPr/>
        </p:nvSpPr>
        <p:spPr>
          <a:xfrm>
            <a:off x="10117286" y="3955256"/>
            <a:ext cx="3757017" cy="917258"/>
          </a:xfrm>
          <a:prstGeom prst="rect">
            <a:avLst/>
          </a:prstGeom>
          <a:noFill/>
          <a:ln/>
        </p:spPr>
        <p:txBody>
          <a:bodyPr wrap="square" lIns="0" tIns="0" rIns="0" bIns="0" rtlCol="0" anchor="t"/>
          <a:lstStyle/>
          <a:p>
            <a:pPr marL="0" indent="0" algn="l">
              <a:lnSpc>
                <a:spcPts val="240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Ngôn ngữ lập trình kịch bản, giúp trang web có tính tương tác động, xử lý sự kiện và thay đổi nội dung linh hoạt.</a:t>
            </a:r>
            <a:endParaRPr lang="en-US" dirty="0">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2B5737C4-DC51-8B40-6348-3170EA9F8BD8}"/>
              </a:ext>
            </a:extLst>
          </p:cNvPr>
          <p:cNvSpPr txBox="1"/>
          <p:nvPr/>
        </p:nvSpPr>
        <p:spPr>
          <a:xfrm>
            <a:off x="14129028" y="7730957"/>
            <a:ext cx="401011" cy="369332"/>
          </a:xfrm>
          <a:prstGeom prst="rect">
            <a:avLst/>
          </a:prstGeom>
          <a:noFill/>
        </p:spPr>
        <p:txBody>
          <a:bodyPr wrap="square" rtlCol="0">
            <a:spAutoFit/>
          </a:bodyPr>
          <a:lstStyle/>
          <a:p>
            <a:r>
              <a:rPr lang="en-US"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7926" y="134005"/>
            <a:ext cx="5652151" cy="2933700"/>
          </a:xfrm>
          <a:prstGeom prst="rect">
            <a:avLst/>
          </a:prstGeom>
          <a:noFill/>
          <a:ln/>
        </p:spPr>
        <p:txBody>
          <a:bodyPr wrap="none" lIns="0" tIns="0" rIns="0" bIns="0" rtlCol="0" anchor="t"/>
          <a:lstStyle/>
          <a:p>
            <a:pPr marL="0" indent="0" algn="l">
              <a:lnSpc>
                <a:spcPts val="3850"/>
              </a:lnSpc>
              <a:buNone/>
            </a:pPr>
            <a:r>
              <a:rPr lang="en-US" sz="3050" b="1" dirty="0">
                <a:solidFill>
                  <a:srgbClr val="333F70"/>
                </a:solidFill>
                <a:latin typeface="Arial" panose="020B0604020202020204" pitchFamily="34" charset="0"/>
                <a:ea typeface="Unbounded Bold" pitchFamily="34" charset="-122"/>
                <a:cs typeface="Arial" panose="020B0604020202020204" pitchFamily="34" charset="0"/>
              </a:rPr>
              <a:t>Phân Tích Hệ Thống: Tổng Quan Use Case</a:t>
            </a:r>
            <a:endParaRPr lang="en-US" sz="3050" dirty="0">
              <a:latin typeface="Arial" panose="020B0604020202020204" pitchFamily="34" charset="0"/>
              <a:cs typeface="Arial" panose="020B0604020202020204" pitchFamily="34" charset="0"/>
            </a:endParaRPr>
          </a:p>
        </p:txBody>
      </p:sp>
      <p:sp>
        <p:nvSpPr>
          <p:cNvPr id="4" name="Shape 2"/>
          <p:cNvSpPr/>
          <p:nvPr/>
        </p:nvSpPr>
        <p:spPr>
          <a:xfrm>
            <a:off x="547926" y="1835706"/>
            <a:ext cx="626269" cy="1215390"/>
          </a:xfrm>
          <a:prstGeom prst="roundRect">
            <a:avLst>
              <a:gd name="adj" fmla="val 360039"/>
            </a:avLst>
          </a:prstGeom>
          <a:solidFill>
            <a:srgbClr val="D6F5EE"/>
          </a:solidFill>
          <a:ln w="7620">
            <a:solidFill>
              <a:srgbClr val="BCDBD4"/>
            </a:solidFill>
            <a:prstDash val="solid"/>
          </a:ln>
        </p:spPr>
        <p:txBody>
          <a:bodyPr/>
          <a:lstStyle/>
          <a:p>
            <a:endParaRPr lang="en-US" sz="1600">
              <a:latin typeface="Arial" panose="020B0604020202020204" pitchFamily="34" charset="0"/>
              <a:cs typeface="Arial" panose="020B0604020202020204" pitchFamily="34"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664" y="2325886"/>
            <a:ext cx="234791" cy="234791"/>
          </a:xfrm>
          <a:prstGeom prst="rect">
            <a:avLst/>
          </a:prstGeom>
        </p:spPr>
      </p:pic>
      <p:sp>
        <p:nvSpPr>
          <p:cNvPr id="6" name="Text 3"/>
          <p:cNvSpPr/>
          <p:nvPr/>
        </p:nvSpPr>
        <p:spPr>
          <a:xfrm>
            <a:off x="1330762" y="1992273"/>
            <a:ext cx="2591633" cy="244673"/>
          </a:xfrm>
          <a:prstGeom prst="rect">
            <a:avLst/>
          </a:prstGeom>
          <a:noFill/>
          <a:ln/>
        </p:spPr>
        <p:txBody>
          <a:bodyPr wrap="none" lIns="0" tIns="0" rIns="0" bIns="0" rtlCol="0" anchor="t"/>
          <a:lstStyle/>
          <a:p>
            <a:pPr marL="0" indent="0" algn="l">
              <a:lnSpc>
                <a:spcPts val="1900"/>
              </a:lnSpc>
              <a:buNone/>
            </a:pPr>
            <a:r>
              <a:rPr lang="en-US" sz="1600" b="1" dirty="0">
                <a:solidFill>
                  <a:srgbClr val="333F70"/>
                </a:solidFill>
                <a:latin typeface="Arial" panose="020B0604020202020204" pitchFamily="34" charset="0"/>
                <a:ea typeface="Unbounded Bold" pitchFamily="34" charset="-122"/>
                <a:cs typeface="Arial" panose="020B0604020202020204" pitchFamily="34" charset="0"/>
              </a:rPr>
              <a:t>Quản Trị Viên (Admin)</a:t>
            </a:r>
            <a:endParaRPr lang="en-US" sz="1600" dirty="0">
              <a:latin typeface="Arial" panose="020B0604020202020204" pitchFamily="34" charset="0"/>
              <a:cs typeface="Arial" panose="020B0604020202020204" pitchFamily="34" charset="0"/>
            </a:endParaRPr>
          </a:p>
        </p:txBody>
      </p:sp>
      <p:sp>
        <p:nvSpPr>
          <p:cNvPr id="7" name="Text 4"/>
          <p:cNvSpPr/>
          <p:nvPr/>
        </p:nvSpPr>
        <p:spPr>
          <a:xfrm>
            <a:off x="1330762" y="2393513"/>
            <a:ext cx="4022862" cy="501015"/>
          </a:xfrm>
          <a:prstGeom prst="rect">
            <a:avLst/>
          </a:prstGeom>
          <a:noFill/>
          <a:ln/>
        </p:spPr>
        <p:txBody>
          <a:bodyPr wrap="square" lIns="0" tIns="0" rIns="0" bIns="0" rtlCol="0" anchor="t"/>
          <a:lstStyle/>
          <a:p>
            <a:pPr marL="0" indent="0" algn="l">
              <a:lnSpc>
                <a:spcPts val="19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Quản lý sản phẩm, đơn hàng, khách hàng, khuyến mãi, và các báo cáo thống kê.</a:t>
            </a:r>
            <a:endParaRPr lang="en-US" sz="1600" dirty="0">
              <a:latin typeface="Arial" panose="020B0604020202020204" pitchFamily="34" charset="0"/>
              <a:cs typeface="Arial" panose="020B0604020202020204" pitchFamily="34" charset="0"/>
            </a:endParaRPr>
          </a:p>
        </p:txBody>
      </p:sp>
      <p:sp>
        <p:nvSpPr>
          <p:cNvPr id="8" name="Shape 5"/>
          <p:cNvSpPr/>
          <p:nvPr/>
        </p:nvSpPr>
        <p:spPr>
          <a:xfrm>
            <a:off x="547926" y="3207663"/>
            <a:ext cx="626269" cy="1215390"/>
          </a:xfrm>
          <a:prstGeom prst="roundRect">
            <a:avLst>
              <a:gd name="adj" fmla="val 360039"/>
            </a:avLst>
          </a:prstGeom>
          <a:solidFill>
            <a:srgbClr val="D6F5EE"/>
          </a:solidFill>
          <a:ln w="7620">
            <a:solidFill>
              <a:srgbClr val="BCDBD4"/>
            </a:solidFill>
            <a:prstDash val="solid"/>
          </a:ln>
        </p:spPr>
        <p:txBody>
          <a:bodyPr/>
          <a:lstStyle/>
          <a:p>
            <a:endParaRPr lang="en-US" sz="1600">
              <a:latin typeface="Arial" panose="020B0604020202020204" pitchFamily="34" charset="0"/>
              <a:cs typeface="Arial" panose="020B0604020202020204" pitchFamily="34"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664" y="3697843"/>
            <a:ext cx="234791" cy="234791"/>
          </a:xfrm>
          <a:prstGeom prst="rect">
            <a:avLst/>
          </a:prstGeom>
        </p:spPr>
      </p:pic>
      <p:sp>
        <p:nvSpPr>
          <p:cNvPr id="10" name="Text 6"/>
          <p:cNvSpPr/>
          <p:nvPr/>
        </p:nvSpPr>
        <p:spPr>
          <a:xfrm>
            <a:off x="1330762" y="3364230"/>
            <a:ext cx="1957268" cy="244673"/>
          </a:xfrm>
          <a:prstGeom prst="rect">
            <a:avLst/>
          </a:prstGeom>
          <a:noFill/>
          <a:ln/>
        </p:spPr>
        <p:txBody>
          <a:bodyPr wrap="none" lIns="0" tIns="0" rIns="0" bIns="0" rtlCol="0" anchor="t"/>
          <a:lstStyle/>
          <a:p>
            <a:pPr marL="0" indent="0" algn="l">
              <a:lnSpc>
                <a:spcPts val="1900"/>
              </a:lnSpc>
              <a:buNone/>
            </a:pPr>
            <a:r>
              <a:rPr lang="en-US" sz="1600" b="1" dirty="0">
                <a:solidFill>
                  <a:srgbClr val="333F70"/>
                </a:solidFill>
                <a:latin typeface="Arial" panose="020B0604020202020204" pitchFamily="34" charset="0"/>
                <a:ea typeface="Unbounded Bold" pitchFamily="34" charset="-122"/>
                <a:cs typeface="Arial" panose="020B0604020202020204" pitchFamily="34" charset="0"/>
              </a:rPr>
              <a:t>Người Dùng</a:t>
            </a:r>
            <a:endParaRPr lang="en-US" sz="1600" dirty="0">
              <a:latin typeface="Arial" panose="020B0604020202020204" pitchFamily="34" charset="0"/>
              <a:cs typeface="Arial" panose="020B0604020202020204" pitchFamily="34" charset="0"/>
            </a:endParaRPr>
          </a:p>
        </p:txBody>
      </p:sp>
      <p:sp>
        <p:nvSpPr>
          <p:cNvPr id="11" name="Text 7"/>
          <p:cNvSpPr/>
          <p:nvPr/>
        </p:nvSpPr>
        <p:spPr>
          <a:xfrm>
            <a:off x="1330762" y="3765471"/>
            <a:ext cx="4022862" cy="501015"/>
          </a:xfrm>
          <a:prstGeom prst="rect">
            <a:avLst/>
          </a:prstGeom>
          <a:noFill/>
          <a:ln/>
        </p:spPr>
        <p:txBody>
          <a:bodyPr wrap="square" lIns="0" tIns="0" rIns="0" bIns="0" rtlCol="0" anchor="t"/>
          <a:lstStyle/>
          <a:p>
            <a:pPr marL="0" indent="0" algn="l">
              <a:lnSpc>
                <a:spcPts val="19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Đăng ký, đăng </a:t>
            </a:r>
            <a:r>
              <a:rPr lang="en-US" sz="1600" dirty="0" err="1">
                <a:solidFill>
                  <a:srgbClr val="333F70"/>
                </a:solidFill>
                <a:latin typeface="Arial" panose="020B0604020202020204" pitchFamily="34" charset="0"/>
                <a:ea typeface="Open Sans" pitchFamily="34" charset="-122"/>
                <a:cs typeface="Arial" panose="020B0604020202020204" pitchFamily="34" charset="0"/>
              </a:rPr>
              <a:t>nhập</a:t>
            </a:r>
            <a:r>
              <a:rPr lang="en-US" sz="1600" dirty="0">
                <a:solidFill>
                  <a:srgbClr val="333F70"/>
                </a:solidFill>
                <a:latin typeface="Arial" panose="020B0604020202020204" pitchFamily="34" charset="0"/>
                <a:ea typeface="Open Sans" pitchFamily="34" charset="-122"/>
                <a:cs typeface="Arial" panose="020B0604020202020204" pitchFamily="34" charset="0"/>
              </a:rPr>
              <a:t>, </a:t>
            </a:r>
            <a:r>
              <a:rPr lang="en-US" sz="1600" dirty="0" err="1">
                <a:solidFill>
                  <a:srgbClr val="333F70"/>
                </a:solidFill>
                <a:latin typeface="Arial" panose="020B0604020202020204" pitchFamily="34" charset="0"/>
                <a:ea typeface="Open Sans" pitchFamily="34" charset="-122"/>
                <a:cs typeface="Arial" panose="020B0604020202020204" pitchFamily="34" charset="0"/>
              </a:rPr>
              <a:t>quản</a:t>
            </a:r>
            <a:r>
              <a:rPr lang="en-US" sz="1600" dirty="0">
                <a:solidFill>
                  <a:srgbClr val="333F70"/>
                </a:solidFill>
                <a:latin typeface="Arial" panose="020B0604020202020204" pitchFamily="34" charset="0"/>
                <a:ea typeface="Open Sans" pitchFamily="34" charset="-122"/>
                <a:cs typeface="Arial" panose="020B0604020202020204" pitchFamily="34" charset="0"/>
              </a:rPr>
              <a:t> lý </a:t>
            </a:r>
            <a:r>
              <a:rPr lang="en-US" sz="1600" dirty="0" err="1">
                <a:solidFill>
                  <a:srgbClr val="333F70"/>
                </a:solidFill>
                <a:latin typeface="Arial" panose="020B0604020202020204" pitchFamily="34" charset="0"/>
                <a:ea typeface="Open Sans" pitchFamily="34" charset="-122"/>
                <a:cs typeface="Arial" panose="020B0604020202020204" pitchFamily="34" charset="0"/>
              </a:rPr>
              <a:t>giỏ</a:t>
            </a:r>
            <a:r>
              <a:rPr lang="en-US" sz="1600" dirty="0">
                <a:solidFill>
                  <a:srgbClr val="333F70"/>
                </a:solidFill>
                <a:latin typeface="Arial" panose="020B0604020202020204" pitchFamily="34" charset="0"/>
                <a:ea typeface="Open Sans" pitchFamily="34" charset="-122"/>
                <a:cs typeface="Arial" panose="020B0604020202020204" pitchFamily="34" charset="0"/>
              </a:rPr>
              <a:t> </a:t>
            </a:r>
            <a:r>
              <a:rPr lang="en-US" sz="1600" dirty="0" err="1">
                <a:solidFill>
                  <a:srgbClr val="333F70"/>
                </a:solidFill>
                <a:latin typeface="Arial" panose="020B0604020202020204" pitchFamily="34" charset="0"/>
                <a:ea typeface="Open Sans" pitchFamily="34" charset="-122"/>
                <a:cs typeface="Arial" panose="020B0604020202020204" pitchFamily="34" charset="0"/>
              </a:rPr>
              <a:t>hàng</a:t>
            </a:r>
            <a:r>
              <a:rPr lang="en-US" sz="1600" dirty="0">
                <a:solidFill>
                  <a:srgbClr val="333F70"/>
                </a:solidFill>
                <a:latin typeface="Arial" panose="020B0604020202020204" pitchFamily="34" charset="0"/>
                <a:ea typeface="Open Sans" pitchFamily="34" charset="-122"/>
                <a:cs typeface="Arial" panose="020B0604020202020204" pitchFamily="34" charset="0"/>
              </a:rPr>
              <a:t>, </a:t>
            </a:r>
            <a:r>
              <a:rPr lang="en-US" sz="1600" dirty="0" err="1">
                <a:solidFill>
                  <a:srgbClr val="333F70"/>
                </a:solidFill>
                <a:latin typeface="Arial" panose="020B0604020202020204" pitchFamily="34" charset="0"/>
                <a:ea typeface="Open Sans" pitchFamily="34" charset="-122"/>
                <a:cs typeface="Arial" panose="020B0604020202020204" pitchFamily="34" charset="0"/>
              </a:rPr>
              <a:t>đặt</a:t>
            </a:r>
            <a:r>
              <a:rPr lang="en-US" sz="1600" dirty="0">
                <a:solidFill>
                  <a:srgbClr val="333F70"/>
                </a:solidFill>
                <a:latin typeface="Arial" panose="020B0604020202020204" pitchFamily="34" charset="0"/>
                <a:ea typeface="Open Sans" pitchFamily="34" charset="-122"/>
                <a:cs typeface="Arial" panose="020B0604020202020204" pitchFamily="34" charset="0"/>
              </a:rPr>
              <a:t> </a:t>
            </a:r>
            <a:r>
              <a:rPr lang="en-US" sz="1600" dirty="0" err="1">
                <a:solidFill>
                  <a:srgbClr val="333F70"/>
                </a:solidFill>
                <a:latin typeface="Arial" panose="020B0604020202020204" pitchFamily="34" charset="0"/>
                <a:ea typeface="Open Sans" pitchFamily="34" charset="-122"/>
                <a:cs typeface="Arial" panose="020B0604020202020204" pitchFamily="34" charset="0"/>
              </a:rPr>
              <a:t>hàng</a:t>
            </a:r>
            <a:r>
              <a:rPr lang="en-US" sz="1600" dirty="0">
                <a:solidFill>
                  <a:srgbClr val="333F70"/>
                </a:solidFill>
                <a:latin typeface="Arial" panose="020B0604020202020204" pitchFamily="34" charset="0"/>
                <a:ea typeface="Open Sans" pitchFamily="34" charset="-122"/>
                <a:cs typeface="Arial" panose="020B0604020202020204" pitchFamily="34" charset="0"/>
              </a:rPr>
              <a:t> </a:t>
            </a:r>
            <a:r>
              <a:rPr lang="en-US" sz="1600" dirty="0" err="1">
                <a:solidFill>
                  <a:srgbClr val="333F70"/>
                </a:solidFill>
                <a:latin typeface="Arial" panose="020B0604020202020204" pitchFamily="34" charset="0"/>
                <a:ea typeface="Open Sans" pitchFamily="34" charset="-122"/>
                <a:cs typeface="Arial" panose="020B0604020202020204" pitchFamily="34" charset="0"/>
              </a:rPr>
              <a:t>và</a:t>
            </a:r>
            <a:r>
              <a:rPr lang="en-US" sz="1600" dirty="0">
                <a:solidFill>
                  <a:srgbClr val="333F70"/>
                </a:solidFill>
                <a:latin typeface="Arial" panose="020B0604020202020204" pitchFamily="34" charset="0"/>
                <a:ea typeface="Open Sans" pitchFamily="34" charset="-122"/>
                <a:cs typeface="Arial" panose="020B0604020202020204" pitchFamily="34" charset="0"/>
              </a:rPr>
              <a:t> </a:t>
            </a:r>
            <a:r>
              <a:rPr lang="en-US" sz="1600" dirty="0" err="1">
                <a:solidFill>
                  <a:srgbClr val="333F70"/>
                </a:solidFill>
                <a:latin typeface="Arial" panose="020B0604020202020204" pitchFamily="34" charset="0"/>
                <a:ea typeface="Open Sans" pitchFamily="34" charset="-122"/>
                <a:cs typeface="Arial" panose="020B0604020202020204" pitchFamily="34" charset="0"/>
              </a:rPr>
              <a:t>thanh</a:t>
            </a:r>
            <a:r>
              <a:rPr lang="en-US" sz="1600" dirty="0">
                <a:solidFill>
                  <a:srgbClr val="333F70"/>
                </a:solidFill>
                <a:latin typeface="Arial" panose="020B0604020202020204" pitchFamily="34" charset="0"/>
                <a:ea typeface="Open Sans" pitchFamily="34" charset="-122"/>
                <a:cs typeface="Arial" panose="020B0604020202020204" pitchFamily="34" charset="0"/>
              </a:rPr>
              <a:t> </a:t>
            </a:r>
            <a:r>
              <a:rPr lang="en-US" sz="1600" dirty="0" err="1">
                <a:solidFill>
                  <a:srgbClr val="333F70"/>
                </a:solidFill>
                <a:latin typeface="Arial" panose="020B0604020202020204" pitchFamily="34" charset="0"/>
                <a:ea typeface="Open Sans" pitchFamily="34" charset="-122"/>
                <a:cs typeface="Arial" panose="020B0604020202020204" pitchFamily="34" charset="0"/>
              </a:rPr>
              <a:t>toán</a:t>
            </a:r>
            <a:r>
              <a:rPr lang="en-US" sz="1600" dirty="0">
                <a:solidFill>
                  <a:srgbClr val="333F70"/>
                </a:solidFill>
                <a:latin typeface="Arial" panose="020B0604020202020204" pitchFamily="34" charset="0"/>
                <a:ea typeface="Open Sans" pitchFamily="34" charset="-122"/>
                <a:cs typeface="Arial" panose="020B0604020202020204" pitchFamily="34" charset="0"/>
              </a:rPr>
              <a:t> và theo dõi tình trạng đơn hàng.</a:t>
            </a:r>
            <a:endParaRPr lang="en-US" sz="1600" dirty="0">
              <a:latin typeface="Arial" panose="020B0604020202020204" pitchFamily="34" charset="0"/>
              <a:cs typeface="Arial" panose="020B0604020202020204" pitchFamily="34" charset="0"/>
            </a:endParaRPr>
          </a:p>
        </p:txBody>
      </p:sp>
      <p:sp>
        <p:nvSpPr>
          <p:cNvPr id="13" name="Text 8"/>
          <p:cNvSpPr/>
          <p:nvPr/>
        </p:nvSpPr>
        <p:spPr>
          <a:xfrm>
            <a:off x="7513796" y="8588097"/>
            <a:ext cx="6576298" cy="200382"/>
          </a:xfrm>
          <a:prstGeom prst="rect">
            <a:avLst/>
          </a:prstGeom>
          <a:noFill/>
          <a:ln/>
        </p:spPr>
        <p:txBody>
          <a:bodyPr wrap="none" lIns="0" tIns="0" rIns="0" bIns="0" rtlCol="0" anchor="t"/>
          <a:lstStyle/>
          <a:p>
            <a:pPr marL="0" indent="0" algn="l">
              <a:lnSpc>
                <a:spcPts val="1550"/>
              </a:lnSpc>
              <a:buNone/>
            </a:pPr>
            <a:r>
              <a:rPr lang="en-US" sz="950" dirty="0">
                <a:solidFill>
                  <a:srgbClr val="333F70"/>
                </a:solidFill>
                <a:latin typeface="Arial" panose="020B0604020202020204" pitchFamily="34" charset="0"/>
                <a:ea typeface="Open Sans" pitchFamily="34" charset="-122"/>
                <a:cs typeface="Arial" panose="020B0604020202020204" pitchFamily="34" charset="0"/>
              </a:rPr>
              <a:t>Hình ảnh mô phỏng biểu đồ Use Case tổng quát của hệ thống.</a:t>
            </a:r>
            <a:endParaRPr lang="en-US" sz="950" dirty="0">
              <a:latin typeface="Arial" panose="020B0604020202020204" pitchFamily="34" charset="0"/>
              <a:cs typeface="Arial" panose="020B0604020202020204" pitchFamily="34" charset="0"/>
            </a:endParaRPr>
          </a:p>
        </p:txBody>
      </p:sp>
      <p:pic>
        <p:nvPicPr>
          <p:cNvPr id="1026" name="Picture 1">
            <a:extLst>
              <a:ext uri="{FF2B5EF4-FFF2-40B4-BE49-F238E27FC236}">
                <a16:creationId xmlns:a16="http://schemas.microsoft.com/office/drawing/2014/main" id="{5E977942-4976-E9EB-41F3-ACE8D70E15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53624" y="598185"/>
            <a:ext cx="9276955" cy="7649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E7664B95-8C1D-D362-98F6-CD9BAFFEA1BF}"/>
              </a:ext>
            </a:extLst>
          </p:cNvPr>
          <p:cNvSpPr txBox="1"/>
          <p:nvPr/>
        </p:nvSpPr>
        <p:spPr>
          <a:xfrm>
            <a:off x="14129028" y="7730957"/>
            <a:ext cx="401011" cy="369332"/>
          </a:xfrm>
          <a:prstGeom prst="rect">
            <a:avLst/>
          </a:prstGeom>
          <a:noFill/>
        </p:spPr>
        <p:txBody>
          <a:bodyPr wrap="square" rtlCol="0">
            <a:spAutoFit/>
          </a:bodyPr>
          <a:lstStyle/>
          <a:p>
            <a:r>
              <a:rPr lang="en-US"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C158A-D0D1-6F51-6935-BA3589F40E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C18F7B-4CAC-F41F-B741-9F7954D8D0DE}"/>
              </a:ext>
            </a:extLst>
          </p:cNvPr>
          <p:cNvSpPr/>
          <p:nvPr/>
        </p:nvSpPr>
        <p:spPr>
          <a:xfrm>
            <a:off x="547926" y="134005"/>
            <a:ext cx="5652151" cy="2933700"/>
          </a:xfrm>
          <a:prstGeom prst="rect">
            <a:avLst/>
          </a:prstGeom>
          <a:noFill/>
          <a:ln/>
        </p:spPr>
        <p:txBody>
          <a:bodyPr wrap="none" lIns="0" tIns="0" rIns="0" bIns="0" rtlCol="0" anchor="t"/>
          <a:lstStyle/>
          <a:p>
            <a:pPr marL="0" indent="0" algn="l">
              <a:lnSpc>
                <a:spcPts val="3850"/>
              </a:lnSpc>
              <a:buNone/>
            </a:pPr>
            <a:r>
              <a:rPr lang="en-US" sz="3050" b="1" dirty="0">
                <a:solidFill>
                  <a:srgbClr val="333F70"/>
                </a:solidFill>
                <a:latin typeface="Arial" panose="020B0604020202020204" pitchFamily="34" charset="0"/>
                <a:ea typeface="Unbounded Bold" pitchFamily="34" charset="-122"/>
                <a:cs typeface="Arial" panose="020B0604020202020204" pitchFamily="34" charset="0"/>
              </a:rPr>
              <a:t>Phân Tích Hệ Thống: </a:t>
            </a:r>
            <a:r>
              <a:rPr lang="en-US" sz="3050" b="1" dirty="0" err="1">
                <a:solidFill>
                  <a:srgbClr val="333F70"/>
                </a:solidFill>
                <a:latin typeface="Arial" panose="020B0604020202020204" pitchFamily="34" charset="0"/>
                <a:ea typeface="Unbounded Bold" pitchFamily="34" charset="-122"/>
                <a:cs typeface="Arial" panose="020B0604020202020204" pitchFamily="34" charset="0"/>
              </a:rPr>
              <a:t>Tổng</a:t>
            </a:r>
            <a:r>
              <a:rPr lang="en-US" sz="3050" b="1" dirty="0">
                <a:solidFill>
                  <a:srgbClr val="333F70"/>
                </a:solidFill>
                <a:latin typeface="Arial" panose="020B0604020202020204" pitchFamily="34" charset="0"/>
                <a:ea typeface="Unbounded Bold" pitchFamily="34" charset="-122"/>
                <a:cs typeface="Arial" panose="020B0604020202020204" pitchFamily="34" charset="0"/>
              </a:rPr>
              <a:t> Quan </a:t>
            </a:r>
            <a:r>
              <a:rPr lang="en-US" sz="3050" b="1" dirty="0" err="1">
                <a:solidFill>
                  <a:srgbClr val="333F70"/>
                </a:solidFill>
                <a:latin typeface="Arial" panose="020B0604020202020204" pitchFamily="34" charset="0"/>
                <a:ea typeface="Unbounded Bold" pitchFamily="34" charset="-122"/>
                <a:cs typeface="Arial" panose="020B0604020202020204" pitchFamily="34" charset="0"/>
              </a:rPr>
              <a:t>Biểu</a:t>
            </a:r>
            <a:r>
              <a:rPr lang="en-US" sz="3050" b="1" dirty="0">
                <a:solidFill>
                  <a:srgbClr val="333F70"/>
                </a:solidFill>
                <a:latin typeface="Arial" panose="020B0604020202020204" pitchFamily="34" charset="0"/>
                <a:ea typeface="Unbounded Bold" pitchFamily="34" charset="-122"/>
                <a:cs typeface="Arial" panose="020B0604020202020204" pitchFamily="34" charset="0"/>
              </a:rPr>
              <a:t> </a:t>
            </a:r>
            <a:r>
              <a:rPr lang="en-US" sz="3050" b="1" dirty="0" err="1">
                <a:solidFill>
                  <a:srgbClr val="333F70"/>
                </a:solidFill>
                <a:latin typeface="Arial" panose="020B0604020202020204" pitchFamily="34" charset="0"/>
                <a:ea typeface="Unbounded Bold" pitchFamily="34" charset="-122"/>
                <a:cs typeface="Arial" panose="020B0604020202020204" pitchFamily="34" charset="0"/>
              </a:rPr>
              <a:t>Đồ</a:t>
            </a:r>
            <a:r>
              <a:rPr lang="en-US" sz="3050" b="1" dirty="0">
                <a:solidFill>
                  <a:srgbClr val="333F70"/>
                </a:solidFill>
                <a:latin typeface="Arial" panose="020B0604020202020204" pitchFamily="34" charset="0"/>
                <a:ea typeface="Unbounded Bold" pitchFamily="34" charset="-122"/>
                <a:cs typeface="Arial" panose="020B0604020202020204" pitchFamily="34" charset="0"/>
              </a:rPr>
              <a:t> </a:t>
            </a:r>
            <a:r>
              <a:rPr lang="en-US" sz="3050" b="1" dirty="0" err="1">
                <a:solidFill>
                  <a:srgbClr val="333F70"/>
                </a:solidFill>
                <a:latin typeface="Arial" panose="020B0604020202020204" pitchFamily="34" charset="0"/>
                <a:ea typeface="Unbounded Bold" pitchFamily="34" charset="-122"/>
                <a:cs typeface="Arial" panose="020B0604020202020204" pitchFamily="34" charset="0"/>
              </a:rPr>
              <a:t>Lớp</a:t>
            </a:r>
            <a:endParaRPr lang="en-US" sz="3050" dirty="0">
              <a:latin typeface="Arial" panose="020B0604020202020204" pitchFamily="34" charset="0"/>
              <a:cs typeface="Arial" panose="020B0604020202020204" pitchFamily="34" charset="0"/>
            </a:endParaRPr>
          </a:p>
        </p:txBody>
      </p:sp>
      <p:pic>
        <p:nvPicPr>
          <p:cNvPr id="2050" name="Picture 1">
            <a:extLst>
              <a:ext uri="{FF2B5EF4-FFF2-40B4-BE49-F238E27FC236}">
                <a16:creationId xmlns:a16="http://schemas.microsoft.com/office/drawing/2014/main" id="{4750A1A6-3383-D284-4D35-ABDC2130C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2419" y="745435"/>
            <a:ext cx="11234079" cy="7484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43971162-05F0-3AD5-D740-ACD9763937C7}"/>
              </a:ext>
            </a:extLst>
          </p:cNvPr>
          <p:cNvSpPr txBox="1"/>
          <p:nvPr/>
        </p:nvSpPr>
        <p:spPr>
          <a:xfrm>
            <a:off x="14129028" y="7730957"/>
            <a:ext cx="401011" cy="369332"/>
          </a:xfrm>
          <a:prstGeom prst="rect">
            <a:avLst/>
          </a:prstGeom>
          <a:noFill/>
        </p:spPr>
        <p:txBody>
          <a:bodyPr wrap="square" rtlCol="0">
            <a:spAutoFit/>
          </a:bodyPr>
          <a:lstStyle/>
          <a:p>
            <a:r>
              <a:rPr lang="en-US" dirty="0"/>
              <a:t>7</a:t>
            </a:r>
          </a:p>
        </p:txBody>
      </p:sp>
    </p:spTree>
    <p:extLst>
      <p:ext uri="{BB962C8B-B14F-4D97-AF65-F5344CB8AC3E}">
        <p14:creationId xmlns:p14="http://schemas.microsoft.com/office/powerpoint/2010/main" val="1389261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1638" y="738307"/>
            <a:ext cx="13187124" cy="1288733"/>
          </a:xfrm>
          <a:prstGeom prst="rect">
            <a:avLst/>
          </a:prstGeom>
          <a:noFill/>
          <a:ln/>
        </p:spPr>
        <p:txBody>
          <a:bodyPr wrap="square" lIns="0" tIns="0" rIns="0" bIns="0" rtlCol="0" anchor="t"/>
          <a:lstStyle/>
          <a:p>
            <a:pPr marL="0" indent="0" algn="l">
              <a:lnSpc>
                <a:spcPts val="5050"/>
              </a:lnSpc>
              <a:buNone/>
            </a:pPr>
            <a:r>
              <a:rPr lang="en-US" sz="4050" b="1" dirty="0">
                <a:solidFill>
                  <a:srgbClr val="333F70"/>
                </a:solidFill>
                <a:latin typeface="Arial" panose="020B0604020202020204" pitchFamily="34" charset="0"/>
                <a:ea typeface="Unbounded Bold" pitchFamily="34" charset="-122"/>
                <a:cs typeface="Arial" panose="020B0604020202020204" pitchFamily="34" charset="0"/>
              </a:rPr>
              <a:t>Chức Năng Phía Admin: Kiểm Soát Toàn Diện Hệ Thống</a:t>
            </a:r>
            <a:endParaRPr lang="en-US" sz="4050" dirty="0">
              <a:latin typeface="Arial" panose="020B0604020202020204" pitchFamily="34" charset="0"/>
              <a:cs typeface="Arial" panose="020B0604020202020204" pitchFamily="34" charset="0"/>
            </a:endParaRPr>
          </a:p>
        </p:txBody>
      </p:sp>
      <p:sp>
        <p:nvSpPr>
          <p:cNvPr id="3" name="Text 1"/>
          <p:cNvSpPr/>
          <p:nvPr/>
        </p:nvSpPr>
        <p:spPr>
          <a:xfrm>
            <a:off x="721638" y="2208967"/>
            <a:ext cx="13187124" cy="329922"/>
          </a:xfrm>
          <a:prstGeom prst="rect">
            <a:avLst/>
          </a:prstGeom>
          <a:noFill/>
          <a:ln/>
        </p:spPr>
        <p:txBody>
          <a:bodyPr wrap="none" lIns="0" tIns="0" rIns="0" bIns="0" rtlCol="0" anchor="t"/>
          <a:lstStyle/>
          <a:p>
            <a:pPr marL="0" indent="0" algn="l">
              <a:lnSpc>
                <a:spcPts val="25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Trang quản trị (Admin) là trung tâm điều hành mọi hoạt động của website, từ quản lý sản phẩm đến theo dõi hiệu suất kinh doanh.</a:t>
            </a:r>
            <a:endParaRPr lang="en-US"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638" y="3481983"/>
            <a:ext cx="515422" cy="515422"/>
          </a:xfrm>
          <a:prstGeom prst="rect">
            <a:avLst/>
          </a:prstGeom>
        </p:spPr>
      </p:pic>
      <p:sp>
        <p:nvSpPr>
          <p:cNvPr id="5" name="Text 2"/>
          <p:cNvSpPr/>
          <p:nvPr/>
        </p:nvSpPr>
        <p:spPr>
          <a:xfrm>
            <a:off x="1494711" y="3604379"/>
            <a:ext cx="2994779" cy="322183"/>
          </a:xfrm>
          <a:prstGeom prst="rect">
            <a:avLst/>
          </a:prstGeom>
          <a:noFill/>
          <a:ln/>
        </p:spPr>
        <p:txBody>
          <a:bodyPr wrap="none" lIns="0" tIns="0" rIns="0" bIns="0" rtlCol="0" anchor="t"/>
          <a:lstStyle/>
          <a:p>
            <a:pPr marL="0" indent="0" algn="l">
              <a:lnSpc>
                <a:spcPts val="250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Quản Lý Sản Phẩm</a:t>
            </a:r>
            <a:endParaRPr lang="en-US" sz="2400" dirty="0">
              <a:latin typeface="Arial" panose="020B0604020202020204" pitchFamily="34" charset="0"/>
              <a:cs typeface="Arial" panose="020B0604020202020204" pitchFamily="34" charset="0"/>
            </a:endParaRPr>
          </a:p>
        </p:txBody>
      </p:sp>
      <p:sp>
        <p:nvSpPr>
          <p:cNvPr id="6" name="Text 3"/>
          <p:cNvSpPr/>
          <p:nvPr/>
        </p:nvSpPr>
        <p:spPr>
          <a:xfrm>
            <a:off x="1494711" y="4050268"/>
            <a:ext cx="3450788" cy="989767"/>
          </a:xfrm>
          <a:prstGeom prst="rect">
            <a:avLst/>
          </a:prstGeom>
          <a:noFill/>
          <a:ln/>
        </p:spPr>
        <p:txBody>
          <a:bodyPr wrap="square" lIns="0" tIns="0" rIns="0" bIns="0" rtlCol="0" anchor="t"/>
          <a:lstStyle/>
          <a:p>
            <a:pPr marL="0" indent="0" algn="l">
              <a:lnSpc>
                <a:spcPts val="25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Thêm, sửa, xóa và tìm kiếm sản phẩm dễ dàng, cập nhật thông tin chi tiết.</a:t>
            </a:r>
            <a:endParaRPr lang="en-US"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03150" y="3481983"/>
            <a:ext cx="515422" cy="515422"/>
          </a:xfrm>
          <a:prstGeom prst="rect">
            <a:avLst/>
          </a:prstGeom>
        </p:spPr>
      </p:pic>
      <p:sp>
        <p:nvSpPr>
          <p:cNvPr id="8" name="Text 4"/>
          <p:cNvSpPr/>
          <p:nvPr/>
        </p:nvSpPr>
        <p:spPr>
          <a:xfrm>
            <a:off x="5976223" y="3604379"/>
            <a:ext cx="2950131" cy="322183"/>
          </a:xfrm>
          <a:prstGeom prst="rect">
            <a:avLst/>
          </a:prstGeom>
          <a:noFill/>
          <a:ln/>
        </p:spPr>
        <p:txBody>
          <a:bodyPr wrap="none" lIns="0" tIns="0" rIns="0" bIns="0" rtlCol="0" anchor="t"/>
          <a:lstStyle/>
          <a:p>
            <a:pPr marL="0" indent="0" algn="l">
              <a:lnSpc>
                <a:spcPts val="250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Quản Lý Đơn Hàng</a:t>
            </a:r>
            <a:endParaRPr lang="en-US" sz="2400" dirty="0">
              <a:latin typeface="Arial" panose="020B0604020202020204" pitchFamily="34" charset="0"/>
              <a:cs typeface="Arial" panose="020B0604020202020204" pitchFamily="34" charset="0"/>
            </a:endParaRPr>
          </a:p>
        </p:txBody>
      </p:sp>
      <p:sp>
        <p:nvSpPr>
          <p:cNvPr id="9" name="Text 5"/>
          <p:cNvSpPr/>
          <p:nvPr/>
        </p:nvSpPr>
        <p:spPr>
          <a:xfrm>
            <a:off x="5976223" y="4050268"/>
            <a:ext cx="3450908" cy="989767"/>
          </a:xfrm>
          <a:prstGeom prst="rect">
            <a:avLst/>
          </a:prstGeom>
          <a:noFill/>
          <a:ln/>
        </p:spPr>
        <p:txBody>
          <a:bodyPr wrap="square" lIns="0" tIns="0" rIns="0" bIns="0" rtlCol="0" anchor="t"/>
          <a:lstStyle/>
          <a:p>
            <a:pPr marL="0" indent="0" algn="l">
              <a:lnSpc>
                <a:spcPts val="25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Xem chi tiết, cập nhật trạng thái và xử lý yêu cầu hủy đơn hàng của khách.</a:t>
            </a:r>
            <a:endParaRPr lang="en-US"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84782" y="3481983"/>
            <a:ext cx="515422" cy="515422"/>
          </a:xfrm>
          <a:prstGeom prst="rect">
            <a:avLst/>
          </a:prstGeom>
        </p:spPr>
      </p:pic>
      <p:sp>
        <p:nvSpPr>
          <p:cNvPr id="11" name="Text 6"/>
          <p:cNvSpPr/>
          <p:nvPr/>
        </p:nvSpPr>
        <p:spPr>
          <a:xfrm>
            <a:off x="10457855" y="3604379"/>
            <a:ext cx="3326130" cy="322183"/>
          </a:xfrm>
          <a:prstGeom prst="rect">
            <a:avLst/>
          </a:prstGeom>
          <a:noFill/>
          <a:ln/>
        </p:spPr>
        <p:txBody>
          <a:bodyPr wrap="none" lIns="0" tIns="0" rIns="0" bIns="0" rtlCol="0" anchor="t"/>
          <a:lstStyle/>
          <a:p>
            <a:pPr marL="0" indent="0" algn="l">
              <a:lnSpc>
                <a:spcPts val="250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Quản Lý Khách Hàng</a:t>
            </a:r>
            <a:endParaRPr lang="en-US" sz="2400" dirty="0">
              <a:latin typeface="Arial" panose="020B0604020202020204" pitchFamily="34" charset="0"/>
              <a:cs typeface="Arial" panose="020B0604020202020204" pitchFamily="34" charset="0"/>
            </a:endParaRPr>
          </a:p>
        </p:txBody>
      </p:sp>
      <p:sp>
        <p:nvSpPr>
          <p:cNvPr id="12" name="Text 7"/>
          <p:cNvSpPr/>
          <p:nvPr/>
        </p:nvSpPr>
        <p:spPr>
          <a:xfrm>
            <a:off x="10457855" y="4050268"/>
            <a:ext cx="3450788" cy="989767"/>
          </a:xfrm>
          <a:prstGeom prst="rect">
            <a:avLst/>
          </a:prstGeom>
          <a:noFill/>
          <a:ln/>
        </p:spPr>
        <p:txBody>
          <a:bodyPr wrap="square" lIns="0" tIns="0" rIns="0" bIns="0" rtlCol="0" anchor="t"/>
          <a:lstStyle/>
          <a:p>
            <a:pPr marL="0" indent="0" algn="l">
              <a:lnSpc>
                <a:spcPts val="25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Thêm mới, chỉnh sửa </a:t>
            </a:r>
            <a:r>
              <a:rPr lang="en-US" dirty="0" err="1">
                <a:solidFill>
                  <a:srgbClr val="333F70"/>
                </a:solidFill>
                <a:latin typeface="Arial" panose="020B0604020202020204" pitchFamily="34" charset="0"/>
                <a:ea typeface="Open Sans" pitchFamily="34" charset="-122"/>
                <a:cs typeface="Arial" panose="020B0604020202020204" pitchFamily="34" charset="0"/>
              </a:rPr>
              <a:t>thông</a:t>
            </a:r>
            <a:r>
              <a:rPr lang="en-US" dirty="0">
                <a:solidFill>
                  <a:srgbClr val="333F70"/>
                </a:solidFill>
                <a:latin typeface="Arial" panose="020B0604020202020204" pitchFamily="34" charset="0"/>
                <a:ea typeface="Open Sans" pitchFamily="34" charset="-122"/>
                <a:cs typeface="Arial" panose="020B0604020202020204" pitchFamily="34" charset="0"/>
              </a:rPr>
              <a:t> tin, </a:t>
            </a:r>
            <a:r>
              <a:rPr lang="en-US" dirty="0" err="1">
                <a:solidFill>
                  <a:srgbClr val="333F70"/>
                </a:solidFill>
                <a:latin typeface="Arial" panose="020B0604020202020204" pitchFamily="34" charset="0"/>
                <a:ea typeface="Open Sans" pitchFamily="34" charset="-122"/>
                <a:cs typeface="Arial" panose="020B0604020202020204" pitchFamily="34" charset="0"/>
              </a:rPr>
              <a:t>xóa</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và</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tìm</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kiếm</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khách</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hàng</a:t>
            </a:r>
            <a:endParaRPr lang="en-US" dirty="0">
              <a:latin typeface="Arial" panose="020B0604020202020204" pitchFamily="34" charset="0"/>
              <a:cs typeface="Arial" panose="020B0604020202020204" pitchFamily="34" charset="0"/>
            </a:endParaRPr>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1638" y="5452348"/>
            <a:ext cx="515422" cy="515422"/>
          </a:xfrm>
          <a:prstGeom prst="rect">
            <a:avLst/>
          </a:prstGeom>
        </p:spPr>
      </p:pic>
      <p:sp>
        <p:nvSpPr>
          <p:cNvPr id="14" name="Text 8"/>
          <p:cNvSpPr/>
          <p:nvPr/>
        </p:nvSpPr>
        <p:spPr>
          <a:xfrm>
            <a:off x="1494711" y="5574744"/>
            <a:ext cx="3245168" cy="322183"/>
          </a:xfrm>
          <a:prstGeom prst="rect">
            <a:avLst/>
          </a:prstGeom>
          <a:noFill/>
          <a:ln/>
        </p:spPr>
        <p:txBody>
          <a:bodyPr wrap="none" lIns="0" tIns="0" rIns="0" bIns="0" rtlCol="0" anchor="t"/>
          <a:lstStyle/>
          <a:p>
            <a:pPr marL="0" indent="0" algn="l">
              <a:lnSpc>
                <a:spcPts val="250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Quản Lý Khuyến Mãi</a:t>
            </a:r>
            <a:endParaRPr lang="en-US" sz="2400" dirty="0">
              <a:latin typeface="Arial" panose="020B0604020202020204" pitchFamily="34" charset="0"/>
              <a:cs typeface="Arial" panose="020B0604020202020204" pitchFamily="34" charset="0"/>
            </a:endParaRPr>
          </a:p>
        </p:txBody>
      </p:sp>
      <p:sp>
        <p:nvSpPr>
          <p:cNvPr id="15" name="Text 9"/>
          <p:cNvSpPr/>
          <p:nvPr/>
        </p:nvSpPr>
        <p:spPr>
          <a:xfrm>
            <a:off x="1494711" y="6020633"/>
            <a:ext cx="3450788" cy="659844"/>
          </a:xfrm>
          <a:prstGeom prst="rect">
            <a:avLst/>
          </a:prstGeom>
          <a:noFill/>
          <a:ln/>
        </p:spPr>
        <p:txBody>
          <a:bodyPr wrap="square" lIns="0" tIns="0" rIns="0" bIns="0" rtlCol="0" anchor="t"/>
          <a:lstStyle/>
          <a:p>
            <a:pPr marL="0" indent="0" algn="l">
              <a:lnSpc>
                <a:spcPts val="25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Tạo, cập nhật và quản lý các mã giảm giá, chương trình ưu đãi.</a:t>
            </a:r>
            <a:endParaRPr lang="en-US" dirty="0">
              <a:latin typeface="Arial" panose="020B0604020202020204" pitchFamily="34" charset="0"/>
              <a:cs typeface="Arial" panose="020B0604020202020204" pitchFamily="34" charset="0"/>
            </a:endParaRPr>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03150" y="5452348"/>
            <a:ext cx="515422" cy="515422"/>
          </a:xfrm>
          <a:prstGeom prst="rect">
            <a:avLst/>
          </a:prstGeom>
        </p:spPr>
      </p:pic>
      <p:sp>
        <p:nvSpPr>
          <p:cNvPr id="17" name="Text 10"/>
          <p:cNvSpPr/>
          <p:nvPr/>
        </p:nvSpPr>
        <p:spPr>
          <a:xfrm>
            <a:off x="5976223" y="5574744"/>
            <a:ext cx="3204924" cy="322183"/>
          </a:xfrm>
          <a:prstGeom prst="rect">
            <a:avLst/>
          </a:prstGeom>
          <a:noFill/>
          <a:ln/>
        </p:spPr>
        <p:txBody>
          <a:bodyPr wrap="none" lIns="0" tIns="0" rIns="0" bIns="0" rtlCol="0" anchor="t"/>
          <a:lstStyle/>
          <a:p>
            <a:pPr marL="0" indent="0" algn="l">
              <a:lnSpc>
                <a:spcPts val="250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Báo Cáo &amp; Thống Kê</a:t>
            </a:r>
            <a:endParaRPr lang="en-US" sz="2400" dirty="0">
              <a:latin typeface="Arial" panose="020B0604020202020204" pitchFamily="34" charset="0"/>
              <a:cs typeface="Arial" panose="020B0604020202020204" pitchFamily="34" charset="0"/>
            </a:endParaRPr>
          </a:p>
        </p:txBody>
      </p:sp>
      <p:sp>
        <p:nvSpPr>
          <p:cNvPr id="18" name="Text 11"/>
          <p:cNvSpPr/>
          <p:nvPr/>
        </p:nvSpPr>
        <p:spPr>
          <a:xfrm>
            <a:off x="5976223" y="6020633"/>
            <a:ext cx="3450908" cy="989767"/>
          </a:xfrm>
          <a:prstGeom prst="rect">
            <a:avLst/>
          </a:prstGeom>
          <a:noFill/>
          <a:ln/>
        </p:spPr>
        <p:txBody>
          <a:bodyPr wrap="square" lIns="0" tIns="0" rIns="0" bIns="0" rtlCol="0" anchor="t"/>
          <a:lstStyle/>
          <a:p>
            <a:pPr marL="0" indent="0" algn="l">
              <a:lnSpc>
                <a:spcPts val="255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Theo dõi doanh thu, số lượng đơn </a:t>
            </a:r>
            <a:r>
              <a:rPr lang="en-US" dirty="0" err="1">
                <a:solidFill>
                  <a:srgbClr val="333F70"/>
                </a:solidFill>
                <a:latin typeface="Arial" panose="020B0604020202020204" pitchFamily="34" charset="0"/>
                <a:ea typeface="Open Sans" pitchFamily="34" charset="-122"/>
                <a:cs typeface="Arial" panose="020B0604020202020204" pitchFamily="34" charset="0"/>
              </a:rPr>
              <a:t>hàng</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và</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doanh</a:t>
            </a:r>
            <a:r>
              <a:rPr lang="en-US" dirty="0">
                <a:solidFill>
                  <a:srgbClr val="333F70"/>
                </a:solidFill>
                <a:latin typeface="Arial" panose="020B0604020202020204" pitchFamily="34" charset="0"/>
                <a:ea typeface="Open Sans" pitchFamily="34" charset="-122"/>
                <a:cs typeface="Arial" panose="020B0604020202020204" pitchFamily="34" charset="0"/>
              </a:rPr>
              <a:t> </a:t>
            </a:r>
            <a:r>
              <a:rPr lang="en-US" dirty="0" err="1">
                <a:solidFill>
                  <a:srgbClr val="333F70"/>
                </a:solidFill>
                <a:latin typeface="Arial" panose="020B0604020202020204" pitchFamily="34" charset="0"/>
                <a:ea typeface="Open Sans" pitchFamily="34" charset="-122"/>
                <a:cs typeface="Arial" panose="020B0604020202020204" pitchFamily="34" charset="0"/>
              </a:rPr>
              <a:t>thu</a:t>
            </a:r>
            <a:endParaRPr lang="en-US"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2822C005-9BC2-0EB2-2EEC-526729CDBB70}"/>
              </a:ext>
            </a:extLst>
          </p:cNvPr>
          <p:cNvSpPr txBox="1"/>
          <p:nvPr/>
        </p:nvSpPr>
        <p:spPr>
          <a:xfrm>
            <a:off x="14129028" y="7730957"/>
            <a:ext cx="401011" cy="369332"/>
          </a:xfrm>
          <a:prstGeom prst="rect">
            <a:avLst/>
          </a:prstGeom>
          <a:noFill/>
        </p:spPr>
        <p:txBody>
          <a:bodyPr wrap="square" rtlCol="0">
            <a:spAutoFit/>
          </a:bodyPr>
          <a:lstStyle/>
          <a:p>
            <a:r>
              <a:rPr lang="en-US"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4007" y="632936"/>
            <a:ext cx="13382387" cy="1114425"/>
          </a:xfrm>
          <a:prstGeom prst="rect">
            <a:avLst/>
          </a:prstGeom>
          <a:noFill/>
          <a:ln/>
        </p:spPr>
        <p:txBody>
          <a:bodyPr wrap="square" lIns="0" tIns="0" rIns="0" bIns="0" rtlCol="0" anchor="t"/>
          <a:lstStyle/>
          <a:p>
            <a:pPr marL="0" indent="0" algn="l">
              <a:lnSpc>
                <a:spcPts val="4350"/>
              </a:lnSpc>
              <a:buNone/>
            </a:pPr>
            <a:r>
              <a:rPr lang="en-US" sz="3500" b="1" dirty="0">
                <a:solidFill>
                  <a:srgbClr val="333F70"/>
                </a:solidFill>
                <a:latin typeface="Arial" panose="020B0604020202020204" pitchFamily="34" charset="0"/>
                <a:ea typeface="Unbounded Bold" pitchFamily="34" charset="-122"/>
                <a:cs typeface="Arial" panose="020B0604020202020204" pitchFamily="34" charset="0"/>
              </a:rPr>
              <a:t>Chức Năng Phía Người </a:t>
            </a:r>
            <a:r>
              <a:rPr lang="en-US" sz="3500" b="1" dirty="0" err="1">
                <a:solidFill>
                  <a:srgbClr val="333F70"/>
                </a:solidFill>
                <a:latin typeface="Arial" panose="020B0604020202020204" pitchFamily="34" charset="0"/>
                <a:ea typeface="Unbounded Bold" pitchFamily="34" charset="-122"/>
                <a:cs typeface="Arial" panose="020B0604020202020204" pitchFamily="34" charset="0"/>
              </a:rPr>
              <a:t>Dùng</a:t>
            </a:r>
            <a:r>
              <a:rPr lang="en-US" sz="3500" b="1" dirty="0">
                <a:solidFill>
                  <a:srgbClr val="333F70"/>
                </a:solidFill>
                <a:latin typeface="Arial" panose="020B0604020202020204" pitchFamily="34" charset="0"/>
                <a:ea typeface="Unbounded Bold" pitchFamily="34" charset="-122"/>
                <a:cs typeface="Arial" panose="020B0604020202020204" pitchFamily="34" charset="0"/>
              </a:rPr>
              <a:t>:</a:t>
            </a:r>
            <a:endParaRPr lang="en-US" sz="3500" dirty="0">
              <a:latin typeface="Arial" panose="020B0604020202020204" pitchFamily="34" charset="0"/>
              <a:cs typeface="Arial" panose="020B0604020202020204" pitchFamily="34" charset="0"/>
            </a:endParaRPr>
          </a:p>
        </p:txBody>
      </p:sp>
      <p:sp>
        <p:nvSpPr>
          <p:cNvPr id="3" name="Shape 1"/>
          <p:cNvSpPr/>
          <p:nvPr/>
        </p:nvSpPr>
        <p:spPr>
          <a:xfrm>
            <a:off x="3300413" y="2103953"/>
            <a:ext cx="1338143" cy="1027271"/>
          </a:xfrm>
          <a:prstGeom prst="roundRect">
            <a:avLst>
              <a:gd name="adj" fmla="val 729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4052" y="2492216"/>
            <a:ext cx="250746" cy="250746"/>
          </a:xfrm>
          <a:prstGeom prst="rect">
            <a:avLst/>
          </a:prstGeom>
        </p:spPr>
      </p:pic>
      <p:sp>
        <p:nvSpPr>
          <p:cNvPr id="5" name="Text 2"/>
          <p:cNvSpPr/>
          <p:nvPr/>
        </p:nvSpPr>
        <p:spPr>
          <a:xfrm>
            <a:off x="4816793" y="2282190"/>
            <a:ext cx="2543175" cy="278606"/>
          </a:xfrm>
          <a:prstGeom prst="rect">
            <a:avLst/>
          </a:prstGeom>
          <a:noFill/>
          <a:ln/>
        </p:spPr>
        <p:txBody>
          <a:bodyPr wrap="none" lIns="0" tIns="0" rIns="0" bIns="0" rtlCol="0" anchor="t"/>
          <a:lstStyle/>
          <a:p>
            <a:pPr marL="0" indent="0" algn="l">
              <a:lnSpc>
                <a:spcPts val="2150"/>
              </a:lnSpc>
              <a:buNone/>
            </a:pPr>
            <a:r>
              <a:rPr lang="en-US" sz="1750" b="1" dirty="0">
                <a:solidFill>
                  <a:srgbClr val="333F70"/>
                </a:solidFill>
                <a:latin typeface="Arial" panose="020B0604020202020204" pitchFamily="34" charset="0"/>
                <a:ea typeface="Unbounded Bold" pitchFamily="34" charset="-122"/>
                <a:cs typeface="Arial" panose="020B0604020202020204" pitchFamily="34" charset="0"/>
              </a:rPr>
              <a:t>Quản Lý Tài Khoản</a:t>
            </a:r>
            <a:endParaRPr lang="en-US" sz="1750" dirty="0">
              <a:latin typeface="Arial" panose="020B0604020202020204" pitchFamily="34" charset="0"/>
              <a:cs typeface="Arial" panose="020B0604020202020204" pitchFamily="34" charset="0"/>
            </a:endParaRPr>
          </a:p>
        </p:txBody>
      </p:sp>
      <p:sp>
        <p:nvSpPr>
          <p:cNvPr id="6" name="Text 3"/>
          <p:cNvSpPr/>
          <p:nvPr/>
        </p:nvSpPr>
        <p:spPr>
          <a:xfrm>
            <a:off x="4816793" y="2667714"/>
            <a:ext cx="5750243" cy="285274"/>
          </a:xfrm>
          <a:prstGeom prst="rect">
            <a:avLst/>
          </a:prstGeom>
          <a:noFill/>
          <a:ln/>
        </p:spPr>
        <p:txBody>
          <a:bodyPr wrap="none" lIns="0" tIns="0" rIns="0" bIns="0" rtlCol="0" anchor="t"/>
          <a:lstStyle/>
          <a:p>
            <a:pPr marL="0" indent="0" algn="l">
              <a:lnSpc>
                <a:spcPts val="2200"/>
              </a:lnSpc>
              <a:buNone/>
            </a:pPr>
            <a:r>
              <a:rPr lang="en-US" sz="1400" dirty="0">
                <a:solidFill>
                  <a:srgbClr val="333F70"/>
                </a:solidFill>
                <a:latin typeface="Arial" panose="020B0604020202020204" pitchFamily="34" charset="0"/>
                <a:ea typeface="Open Sans" pitchFamily="34" charset="-122"/>
                <a:cs typeface="Arial" panose="020B0604020202020204" pitchFamily="34" charset="0"/>
              </a:rPr>
              <a:t>Đăng ký, đăng nhập, cập nhật thông tin cá nhân và mật khẩu an toàn.</a:t>
            </a:r>
            <a:endParaRPr lang="en-US" sz="1400" dirty="0">
              <a:latin typeface="Arial" panose="020B0604020202020204" pitchFamily="34" charset="0"/>
              <a:cs typeface="Arial" panose="020B0604020202020204" pitchFamily="34" charset="0"/>
            </a:endParaRPr>
          </a:p>
        </p:txBody>
      </p:sp>
      <p:sp>
        <p:nvSpPr>
          <p:cNvPr id="7" name="Shape 4"/>
          <p:cNvSpPr/>
          <p:nvPr/>
        </p:nvSpPr>
        <p:spPr>
          <a:xfrm>
            <a:off x="4727615" y="3121700"/>
            <a:ext cx="9189720" cy="11430"/>
          </a:xfrm>
          <a:prstGeom prst="roundRect">
            <a:avLst>
              <a:gd name="adj" fmla="val 655220"/>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8" name="Shape 5"/>
          <p:cNvSpPr/>
          <p:nvPr/>
        </p:nvSpPr>
        <p:spPr>
          <a:xfrm>
            <a:off x="2631281" y="3220283"/>
            <a:ext cx="2676406" cy="1027271"/>
          </a:xfrm>
          <a:prstGeom prst="roundRect">
            <a:avLst>
              <a:gd name="adj" fmla="val 729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44052" y="3608546"/>
            <a:ext cx="250746" cy="250746"/>
          </a:xfrm>
          <a:prstGeom prst="rect">
            <a:avLst/>
          </a:prstGeom>
        </p:spPr>
      </p:pic>
      <p:sp>
        <p:nvSpPr>
          <p:cNvPr id="10" name="Text 6"/>
          <p:cNvSpPr/>
          <p:nvPr/>
        </p:nvSpPr>
        <p:spPr>
          <a:xfrm>
            <a:off x="5485924" y="3398520"/>
            <a:ext cx="3660934" cy="278606"/>
          </a:xfrm>
          <a:prstGeom prst="rect">
            <a:avLst/>
          </a:prstGeom>
          <a:noFill/>
          <a:ln/>
        </p:spPr>
        <p:txBody>
          <a:bodyPr wrap="none" lIns="0" tIns="0" rIns="0" bIns="0" rtlCol="0" anchor="t"/>
          <a:lstStyle/>
          <a:p>
            <a:pPr marL="0" indent="0" algn="l">
              <a:lnSpc>
                <a:spcPts val="2150"/>
              </a:lnSpc>
              <a:buNone/>
            </a:pPr>
            <a:r>
              <a:rPr lang="en-US" sz="1750" b="1" dirty="0">
                <a:solidFill>
                  <a:srgbClr val="333F70"/>
                </a:solidFill>
                <a:latin typeface="Arial" panose="020B0604020202020204" pitchFamily="34" charset="0"/>
                <a:ea typeface="Unbounded Bold" pitchFamily="34" charset="-122"/>
                <a:cs typeface="Arial" panose="020B0604020202020204" pitchFamily="34" charset="0"/>
              </a:rPr>
              <a:t>Xem &amp; Tìm Kiếm Sản Phẩm</a:t>
            </a:r>
            <a:endParaRPr lang="en-US" sz="1750" dirty="0">
              <a:latin typeface="Arial" panose="020B0604020202020204" pitchFamily="34" charset="0"/>
              <a:cs typeface="Arial" panose="020B0604020202020204" pitchFamily="34" charset="0"/>
            </a:endParaRPr>
          </a:p>
        </p:txBody>
      </p:sp>
      <p:sp>
        <p:nvSpPr>
          <p:cNvPr id="11" name="Text 7"/>
          <p:cNvSpPr/>
          <p:nvPr/>
        </p:nvSpPr>
        <p:spPr>
          <a:xfrm>
            <a:off x="5485924" y="3784044"/>
            <a:ext cx="6881574" cy="285274"/>
          </a:xfrm>
          <a:prstGeom prst="rect">
            <a:avLst/>
          </a:prstGeom>
          <a:noFill/>
          <a:ln/>
        </p:spPr>
        <p:txBody>
          <a:bodyPr wrap="none" lIns="0" tIns="0" rIns="0" bIns="0" rtlCol="0" anchor="t"/>
          <a:lstStyle/>
          <a:p>
            <a:pPr marL="0" indent="0" algn="l">
              <a:lnSpc>
                <a:spcPts val="2200"/>
              </a:lnSpc>
              <a:buNone/>
            </a:pPr>
            <a:r>
              <a:rPr lang="en-US" sz="1400" dirty="0">
                <a:solidFill>
                  <a:srgbClr val="333F70"/>
                </a:solidFill>
                <a:latin typeface="Arial" panose="020B0604020202020204" pitchFamily="34" charset="0"/>
                <a:ea typeface="Open Sans" pitchFamily="34" charset="-122"/>
                <a:cs typeface="Arial" panose="020B0604020202020204" pitchFamily="34" charset="0"/>
              </a:rPr>
              <a:t>Dễ dàng duyệt qua các danh mục, xem chi tiết và tìm kiếm sản phẩm theo nhu cầu.</a:t>
            </a:r>
            <a:endParaRPr lang="en-US" sz="1400" dirty="0">
              <a:latin typeface="Arial" panose="020B0604020202020204" pitchFamily="34" charset="0"/>
              <a:cs typeface="Arial" panose="020B0604020202020204" pitchFamily="34" charset="0"/>
            </a:endParaRPr>
          </a:p>
        </p:txBody>
      </p:sp>
      <p:sp>
        <p:nvSpPr>
          <p:cNvPr id="12" name="Shape 8"/>
          <p:cNvSpPr/>
          <p:nvPr/>
        </p:nvSpPr>
        <p:spPr>
          <a:xfrm>
            <a:off x="5396746" y="4238030"/>
            <a:ext cx="8520589" cy="11430"/>
          </a:xfrm>
          <a:prstGeom prst="roundRect">
            <a:avLst>
              <a:gd name="adj" fmla="val 655220"/>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13" name="Shape 9"/>
          <p:cNvSpPr/>
          <p:nvPr/>
        </p:nvSpPr>
        <p:spPr>
          <a:xfrm>
            <a:off x="1962150" y="4336613"/>
            <a:ext cx="4014668" cy="1027271"/>
          </a:xfrm>
          <a:prstGeom prst="roundRect">
            <a:avLst>
              <a:gd name="adj" fmla="val 729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4052" y="4724876"/>
            <a:ext cx="250746" cy="250746"/>
          </a:xfrm>
          <a:prstGeom prst="rect">
            <a:avLst/>
          </a:prstGeom>
        </p:spPr>
      </p:pic>
      <p:sp>
        <p:nvSpPr>
          <p:cNvPr id="15" name="Text 10"/>
          <p:cNvSpPr/>
          <p:nvPr/>
        </p:nvSpPr>
        <p:spPr>
          <a:xfrm>
            <a:off x="6155055" y="4514850"/>
            <a:ext cx="2445306" cy="278606"/>
          </a:xfrm>
          <a:prstGeom prst="rect">
            <a:avLst/>
          </a:prstGeom>
          <a:noFill/>
          <a:ln/>
        </p:spPr>
        <p:txBody>
          <a:bodyPr wrap="none" lIns="0" tIns="0" rIns="0" bIns="0" rtlCol="0" anchor="t"/>
          <a:lstStyle/>
          <a:p>
            <a:pPr marL="0" indent="0" algn="l">
              <a:lnSpc>
                <a:spcPts val="2150"/>
              </a:lnSpc>
              <a:buNone/>
            </a:pPr>
            <a:r>
              <a:rPr lang="en-US" sz="1750" b="1" dirty="0">
                <a:solidFill>
                  <a:srgbClr val="333F70"/>
                </a:solidFill>
                <a:latin typeface="Arial" panose="020B0604020202020204" pitchFamily="34" charset="0"/>
                <a:ea typeface="Unbounded Bold" pitchFamily="34" charset="-122"/>
                <a:cs typeface="Arial" panose="020B0604020202020204" pitchFamily="34" charset="0"/>
              </a:rPr>
              <a:t>Quản Lý Giỏ Hàng</a:t>
            </a:r>
            <a:endParaRPr lang="en-US" sz="1750" dirty="0">
              <a:latin typeface="Arial" panose="020B0604020202020204" pitchFamily="34" charset="0"/>
              <a:cs typeface="Arial" panose="020B0604020202020204" pitchFamily="34" charset="0"/>
            </a:endParaRPr>
          </a:p>
        </p:txBody>
      </p:sp>
      <p:sp>
        <p:nvSpPr>
          <p:cNvPr id="16" name="Text 11"/>
          <p:cNvSpPr/>
          <p:nvPr/>
        </p:nvSpPr>
        <p:spPr>
          <a:xfrm>
            <a:off x="6155055" y="4900374"/>
            <a:ext cx="6274594" cy="285274"/>
          </a:xfrm>
          <a:prstGeom prst="rect">
            <a:avLst/>
          </a:prstGeom>
          <a:noFill/>
          <a:ln/>
        </p:spPr>
        <p:txBody>
          <a:bodyPr wrap="none" lIns="0" tIns="0" rIns="0" bIns="0" rtlCol="0" anchor="t"/>
          <a:lstStyle/>
          <a:p>
            <a:pPr marL="0" indent="0" algn="l">
              <a:lnSpc>
                <a:spcPts val="2200"/>
              </a:lnSpc>
              <a:buNone/>
            </a:pPr>
            <a:r>
              <a:rPr lang="en-US" sz="1400" dirty="0">
                <a:solidFill>
                  <a:srgbClr val="333F70"/>
                </a:solidFill>
                <a:latin typeface="Arial" panose="020B0604020202020204" pitchFamily="34" charset="0"/>
                <a:ea typeface="Open Sans" pitchFamily="34" charset="-122"/>
                <a:cs typeface="Arial" panose="020B0604020202020204" pitchFamily="34" charset="0"/>
              </a:rPr>
              <a:t>Thêm, xóa, cập nhật số lượng sản phẩm trong giỏ hàng một cách trực quan.</a:t>
            </a:r>
            <a:endParaRPr lang="en-US" sz="1400" dirty="0">
              <a:latin typeface="Arial" panose="020B0604020202020204" pitchFamily="34" charset="0"/>
              <a:cs typeface="Arial" panose="020B0604020202020204" pitchFamily="34" charset="0"/>
            </a:endParaRPr>
          </a:p>
        </p:txBody>
      </p:sp>
      <p:sp>
        <p:nvSpPr>
          <p:cNvPr id="17" name="Shape 12"/>
          <p:cNvSpPr/>
          <p:nvPr/>
        </p:nvSpPr>
        <p:spPr>
          <a:xfrm>
            <a:off x="6065877" y="5354360"/>
            <a:ext cx="7851458" cy="11430"/>
          </a:xfrm>
          <a:prstGeom prst="roundRect">
            <a:avLst>
              <a:gd name="adj" fmla="val 655220"/>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18" name="Shape 13"/>
          <p:cNvSpPr/>
          <p:nvPr/>
        </p:nvSpPr>
        <p:spPr>
          <a:xfrm>
            <a:off x="1293019" y="5452943"/>
            <a:ext cx="5352931" cy="1027271"/>
          </a:xfrm>
          <a:prstGeom prst="roundRect">
            <a:avLst>
              <a:gd name="adj" fmla="val 729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pic>
        <p:nvPicPr>
          <p:cNvPr id="1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44052" y="5841206"/>
            <a:ext cx="250746" cy="250746"/>
          </a:xfrm>
          <a:prstGeom prst="rect">
            <a:avLst/>
          </a:prstGeom>
        </p:spPr>
      </p:pic>
      <p:sp>
        <p:nvSpPr>
          <p:cNvPr id="20" name="Text 14"/>
          <p:cNvSpPr/>
          <p:nvPr/>
        </p:nvSpPr>
        <p:spPr>
          <a:xfrm>
            <a:off x="6824186" y="5631180"/>
            <a:ext cx="3264218" cy="278606"/>
          </a:xfrm>
          <a:prstGeom prst="rect">
            <a:avLst/>
          </a:prstGeom>
          <a:noFill/>
          <a:ln/>
        </p:spPr>
        <p:txBody>
          <a:bodyPr wrap="none" lIns="0" tIns="0" rIns="0" bIns="0" rtlCol="0" anchor="t"/>
          <a:lstStyle/>
          <a:p>
            <a:pPr marL="0" indent="0" algn="l">
              <a:lnSpc>
                <a:spcPts val="2150"/>
              </a:lnSpc>
              <a:buNone/>
            </a:pPr>
            <a:r>
              <a:rPr lang="en-US" sz="1750" b="1" dirty="0">
                <a:solidFill>
                  <a:srgbClr val="333F70"/>
                </a:solidFill>
                <a:latin typeface="Arial" panose="020B0604020202020204" pitchFamily="34" charset="0"/>
                <a:ea typeface="Unbounded Bold" pitchFamily="34" charset="-122"/>
                <a:cs typeface="Arial" panose="020B0604020202020204" pitchFamily="34" charset="0"/>
              </a:rPr>
              <a:t>Đặt Hàng &amp; Thanh Toán</a:t>
            </a:r>
            <a:endParaRPr lang="en-US" sz="1750" dirty="0">
              <a:latin typeface="Arial" panose="020B0604020202020204" pitchFamily="34" charset="0"/>
              <a:cs typeface="Arial" panose="020B0604020202020204" pitchFamily="34" charset="0"/>
            </a:endParaRPr>
          </a:p>
        </p:txBody>
      </p:sp>
      <p:sp>
        <p:nvSpPr>
          <p:cNvPr id="21" name="Text 15"/>
          <p:cNvSpPr/>
          <p:nvPr/>
        </p:nvSpPr>
        <p:spPr>
          <a:xfrm>
            <a:off x="6824186" y="6016704"/>
            <a:ext cx="6651546" cy="285274"/>
          </a:xfrm>
          <a:prstGeom prst="rect">
            <a:avLst/>
          </a:prstGeom>
          <a:noFill/>
          <a:ln/>
        </p:spPr>
        <p:txBody>
          <a:bodyPr wrap="none" lIns="0" tIns="0" rIns="0" bIns="0" rtlCol="0" anchor="t"/>
          <a:lstStyle/>
          <a:p>
            <a:pPr marL="0" indent="0" algn="l">
              <a:lnSpc>
                <a:spcPts val="2200"/>
              </a:lnSpc>
              <a:buNone/>
            </a:pPr>
            <a:r>
              <a:rPr lang="en-US" sz="1400" dirty="0">
                <a:solidFill>
                  <a:srgbClr val="333F70"/>
                </a:solidFill>
                <a:latin typeface="Arial" panose="020B0604020202020204" pitchFamily="34" charset="0"/>
                <a:ea typeface="Open Sans" pitchFamily="34" charset="-122"/>
                <a:cs typeface="Arial" panose="020B0604020202020204" pitchFamily="34" charset="0"/>
              </a:rPr>
              <a:t>Quy trình đặt hàng đơn giản, tích hợp nhiều phương thức thanh toán thuận tiện.</a:t>
            </a:r>
            <a:endParaRPr lang="en-US" sz="1400" dirty="0">
              <a:latin typeface="Arial" panose="020B0604020202020204" pitchFamily="34" charset="0"/>
              <a:cs typeface="Arial" panose="020B0604020202020204" pitchFamily="34" charset="0"/>
            </a:endParaRPr>
          </a:p>
        </p:txBody>
      </p:sp>
      <p:sp>
        <p:nvSpPr>
          <p:cNvPr id="22" name="Shape 16"/>
          <p:cNvSpPr/>
          <p:nvPr/>
        </p:nvSpPr>
        <p:spPr>
          <a:xfrm>
            <a:off x="6735008" y="6470690"/>
            <a:ext cx="7182326" cy="11430"/>
          </a:xfrm>
          <a:prstGeom prst="roundRect">
            <a:avLst>
              <a:gd name="adj" fmla="val 655220"/>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23" name="Shape 17"/>
          <p:cNvSpPr/>
          <p:nvPr/>
        </p:nvSpPr>
        <p:spPr>
          <a:xfrm>
            <a:off x="624007" y="6569273"/>
            <a:ext cx="6691193" cy="1027271"/>
          </a:xfrm>
          <a:prstGeom prst="roundRect">
            <a:avLst>
              <a:gd name="adj" fmla="val 729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pic>
        <p:nvPicPr>
          <p:cNvPr id="24"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44171" y="6957536"/>
            <a:ext cx="250746" cy="250746"/>
          </a:xfrm>
          <a:prstGeom prst="rect">
            <a:avLst/>
          </a:prstGeom>
        </p:spPr>
      </p:pic>
      <p:sp>
        <p:nvSpPr>
          <p:cNvPr id="25" name="Text 18"/>
          <p:cNvSpPr/>
          <p:nvPr/>
        </p:nvSpPr>
        <p:spPr>
          <a:xfrm>
            <a:off x="7493437" y="6747510"/>
            <a:ext cx="2631638" cy="278606"/>
          </a:xfrm>
          <a:prstGeom prst="rect">
            <a:avLst/>
          </a:prstGeom>
          <a:noFill/>
          <a:ln/>
        </p:spPr>
        <p:txBody>
          <a:bodyPr wrap="none" lIns="0" tIns="0" rIns="0" bIns="0" rtlCol="0" anchor="t"/>
          <a:lstStyle/>
          <a:p>
            <a:pPr marL="0" indent="0" algn="l">
              <a:lnSpc>
                <a:spcPts val="2150"/>
              </a:lnSpc>
              <a:buNone/>
            </a:pPr>
            <a:r>
              <a:rPr lang="en-US" sz="1750" b="1" dirty="0">
                <a:solidFill>
                  <a:srgbClr val="333F70"/>
                </a:solidFill>
                <a:latin typeface="Arial" panose="020B0604020202020204" pitchFamily="34" charset="0"/>
                <a:ea typeface="Unbounded Bold" pitchFamily="34" charset="-122"/>
                <a:cs typeface="Arial" panose="020B0604020202020204" pitchFamily="34" charset="0"/>
              </a:rPr>
              <a:t>Theo Dõi Đơn Hàng</a:t>
            </a:r>
            <a:endParaRPr lang="en-US" sz="1750" dirty="0">
              <a:latin typeface="Arial" panose="020B0604020202020204" pitchFamily="34" charset="0"/>
              <a:cs typeface="Arial" panose="020B0604020202020204" pitchFamily="34" charset="0"/>
            </a:endParaRPr>
          </a:p>
        </p:txBody>
      </p:sp>
      <p:sp>
        <p:nvSpPr>
          <p:cNvPr id="26" name="Text 19"/>
          <p:cNvSpPr/>
          <p:nvPr/>
        </p:nvSpPr>
        <p:spPr>
          <a:xfrm>
            <a:off x="7493437" y="7133034"/>
            <a:ext cx="6175891" cy="285274"/>
          </a:xfrm>
          <a:prstGeom prst="rect">
            <a:avLst/>
          </a:prstGeom>
          <a:noFill/>
          <a:ln/>
        </p:spPr>
        <p:txBody>
          <a:bodyPr wrap="none" lIns="0" tIns="0" rIns="0" bIns="0" rtlCol="0" anchor="t"/>
          <a:lstStyle/>
          <a:p>
            <a:pPr marL="0" indent="0" algn="l">
              <a:lnSpc>
                <a:spcPts val="2200"/>
              </a:lnSpc>
              <a:buNone/>
            </a:pPr>
            <a:r>
              <a:rPr lang="en-US" sz="1400" dirty="0">
                <a:solidFill>
                  <a:srgbClr val="333F70"/>
                </a:solidFill>
                <a:latin typeface="Arial" panose="020B0604020202020204" pitchFamily="34" charset="0"/>
                <a:ea typeface="Open Sans" pitchFamily="34" charset="-122"/>
                <a:cs typeface="Arial" panose="020B0604020202020204" pitchFamily="34" charset="0"/>
              </a:rPr>
              <a:t>Kiểm tra trạng thái đơn hàng đã đặt, </a:t>
            </a:r>
            <a:r>
              <a:rPr lang="en-US" sz="1400" dirty="0" err="1">
                <a:solidFill>
                  <a:srgbClr val="333F70"/>
                </a:solidFill>
                <a:latin typeface="Arial" panose="020B0604020202020204" pitchFamily="34" charset="0"/>
                <a:ea typeface="Open Sans" pitchFamily="34" charset="-122"/>
                <a:cs typeface="Arial" panose="020B0604020202020204" pitchFamily="34" charset="0"/>
              </a:rPr>
              <a:t>và</a:t>
            </a:r>
            <a:r>
              <a:rPr lang="en-US" sz="1400" dirty="0">
                <a:solidFill>
                  <a:srgbClr val="333F70"/>
                </a:solidFill>
                <a:latin typeface="Arial" panose="020B0604020202020204" pitchFamily="34" charset="0"/>
                <a:ea typeface="Open Sans" pitchFamily="34" charset="-122"/>
                <a:cs typeface="Arial" panose="020B0604020202020204" pitchFamily="34" charset="0"/>
              </a:rPr>
              <a:t> tùy chọn hủy đơn.</a:t>
            </a:r>
            <a:endParaRPr lang="en-US" sz="14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9AC003C9-9768-05FE-889F-075C07DB7C3C}"/>
              </a:ext>
            </a:extLst>
          </p:cNvPr>
          <p:cNvSpPr txBox="1"/>
          <p:nvPr/>
        </p:nvSpPr>
        <p:spPr>
          <a:xfrm>
            <a:off x="14129028" y="7730957"/>
            <a:ext cx="401011" cy="369332"/>
          </a:xfrm>
          <a:prstGeom prst="rect">
            <a:avLst/>
          </a:prstGeom>
          <a:noFill/>
        </p:spPr>
        <p:txBody>
          <a:bodyPr wrap="square" rtlCol="0">
            <a:spAutoFit/>
          </a:bodyPr>
          <a:lstStyle/>
          <a:p>
            <a:r>
              <a:rPr lang="en-US"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4022-3E1F-84F8-CD35-C60D196F4BF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075010-E2FF-BBA7-FF3E-2192D1C1883D}"/>
              </a:ext>
            </a:extLst>
          </p:cNvPr>
          <p:cNvSpPr/>
          <p:nvPr/>
        </p:nvSpPr>
        <p:spPr>
          <a:xfrm>
            <a:off x="4101789" y="123291"/>
            <a:ext cx="6490868" cy="595900"/>
          </a:xfrm>
          <a:prstGeom prst="rect">
            <a:avLst/>
          </a:prstGeom>
          <a:noFill/>
          <a:ln/>
        </p:spPr>
        <p:txBody>
          <a:bodyPr wrap="none" lIns="0" tIns="0" rIns="0" bIns="0" rtlCol="0" anchor="t"/>
          <a:lstStyle/>
          <a:p>
            <a:pPr>
              <a:lnSpc>
                <a:spcPts val="4650"/>
              </a:lnSpc>
            </a:pPr>
            <a:r>
              <a:rPr lang="en-US" sz="4400" dirty="0"/>
              <a:t>Demo </a:t>
            </a:r>
            <a:r>
              <a:rPr lang="en-US" sz="4400" dirty="0" err="1"/>
              <a:t>giao</a:t>
            </a:r>
            <a:r>
              <a:rPr lang="en-US" sz="4400" dirty="0"/>
              <a:t> </a:t>
            </a:r>
            <a:r>
              <a:rPr lang="en-US" sz="4400" dirty="0" err="1"/>
              <a:t>diện</a:t>
            </a:r>
            <a:r>
              <a:rPr lang="en-US" sz="4400" dirty="0"/>
              <a:t> </a:t>
            </a:r>
            <a:r>
              <a:rPr lang="en-US" sz="4400" dirty="0" err="1"/>
              <a:t>trang</a:t>
            </a:r>
            <a:r>
              <a:rPr lang="en-US" sz="4400" dirty="0"/>
              <a:t> web</a:t>
            </a:r>
            <a:endParaRPr lang="en-US" sz="4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E7BF9C0-3DA8-B569-D4BA-35682151059D}"/>
              </a:ext>
            </a:extLst>
          </p:cNvPr>
          <p:cNvPicPr>
            <a:picLocks noChangeAspect="1"/>
          </p:cNvPicPr>
          <p:nvPr/>
        </p:nvPicPr>
        <p:blipFill>
          <a:blip r:embed="rId3"/>
          <a:stretch>
            <a:fillRect/>
          </a:stretch>
        </p:blipFill>
        <p:spPr>
          <a:xfrm>
            <a:off x="0" y="811659"/>
            <a:ext cx="14630400" cy="7417942"/>
          </a:xfrm>
          <a:prstGeom prst="rect">
            <a:avLst/>
          </a:prstGeom>
        </p:spPr>
      </p:pic>
      <p:sp>
        <p:nvSpPr>
          <p:cNvPr id="6" name="TextBox 5">
            <a:extLst>
              <a:ext uri="{FF2B5EF4-FFF2-40B4-BE49-F238E27FC236}">
                <a16:creationId xmlns:a16="http://schemas.microsoft.com/office/drawing/2014/main" id="{572F4F6F-6322-AE35-D3CF-768A3C3B3790}"/>
              </a:ext>
            </a:extLst>
          </p:cNvPr>
          <p:cNvSpPr txBox="1"/>
          <p:nvPr/>
        </p:nvSpPr>
        <p:spPr>
          <a:xfrm>
            <a:off x="14005932" y="7730957"/>
            <a:ext cx="524107" cy="369332"/>
          </a:xfrm>
          <a:prstGeom prst="rect">
            <a:avLst/>
          </a:prstGeom>
          <a:noFill/>
        </p:spPr>
        <p:txBody>
          <a:bodyPr wrap="square" rtlCol="0">
            <a:spAutoFit/>
          </a:bodyPr>
          <a:lstStyle/>
          <a:p>
            <a:r>
              <a:rPr lang="en-US" dirty="0"/>
              <a:t>10</a:t>
            </a:r>
          </a:p>
        </p:txBody>
      </p:sp>
    </p:spTree>
    <p:extLst>
      <p:ext uri="{BB962C8B-B14F-4D97-AF65-F5344CB8AC3E}">
        <p14:creationId xmlns:p14="http://schemas.microsoft.com/office/powerpoint/2010/main" val="2846568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7457" y="592381"/>
            <a:ext cx="13242846" cy="542449"/>
          </a:xfrm>
          <a:prstGeom prst="rect">
            <a:avLst/>
          </a:prstGeom>
          <a:noFill/>
          <a:ln/>
        </p:spPr>
        <p:txBody>
          <a:bodyPr wrap="none" lIns="0" tIns="0" rIns="0" bIns="0" rtlCol="0" anchor="t"/>
          <a:lstStyle/>
          <a:p>
            <a:pPr marL="0" indent="0" algn="l">
              <a:lnSpc>
                <a:spcPts val="4250"/>
              </a:lnSpc>
              <a:buNone/>
            </a:pPr>
            <a:r>
              <a:rPr lang="en-US" sz="3600" b="1" dirty="0">
                <a:solidFill>
                  <a:srgbClr val="333F70"/>
                </a:solidFill>
                <a:latin typeface="Arial" panose="020B0604020202020204" pitchFamily="34" charset="0"/>
                <a:ea typeface="Unbounded Bold" pitchFamily="34" charset="-122"/>
                <a:cs typeface="Arial" panose="020B0604020202020204" pitchFamily="34" charset="0"/>
              </a:rPr>
              <a:t>Kết Quả Đạt Được và Hạn Chế: Cái Nhìn Toàn Diện</a:t>
            </a:r>
            <a:endParaRPr lang="en-US" sz="3600" dirty="0">
              <a:latin typeface="Arial" panose="020B0604020202020204" pitchFamily="34" charset="0"/>
              <a:cs typeface="Arial" panose="020B0604020202020204" pitchFamily="34" charset="0"/>
            </a:endParaRPr>
          </a:p>
        </p:txBody>
      </p:sp>
      <p:sp>
        <p:nvSpPr>
          <p:cNvPr id="3" name="Text 1"/>
          <p:cNvSpPr/>
          <p:nvPr/>
        </p:nvSpPr>
        <p:spPr>
          <a:xfrm>
            <a:off x="607457" y="1724501"/>
            <a:ext cx="2912269" cy="325398"/>
          </a:xfrm>
          <a:prstGeom prst="rect">
            <a:avLst/>
          </a:prstGeom>
          <a:noFill/>
          <a:ln/>
        </p:spPr>
        <p:txBody>
          <a:bodyPr wrap="none" lIns="0" tIns="0" rIns="0" bIns="0" rtlCol="0" anchor="t"/>
          <a:lstStyle/>
          <a:p>
            <a:pPr marL="0" indent="0" algn="l">
              <a:lnSpc>
                <a:spcPts val="2550"/>
              </a:lnSpc>
              <a:buNone/>
            </a:pPr>
            <a:r>
              <a:rPr lang="en-US" sz="2800" b="1" dirty="0">
                <a:solidFill>
                  <a:srgbClr val="333F70"/>
                </a:solidFill>
                <a:latin typeface="Arial" panose="020B0604020202020204" pitchFamily="34" charset="0"/>
                <a:ea typeface="Unbounded Bold" pitchFamily="34" charset="-122"/>
                <a:cs typeface="Arial" panose="020B0604020202020204" pitchFamily="34" charset="0"/>
              </a:rPr>
              <a:t>Kết Quả Đạt Được</a:t>
            </a:r>
            <a:endParaRPr lang="en-US" sz="28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584" y="2250519"/>
            <a:ext cx="260271" cy="260271"/>
          </a:xfrm>
          <a:prstGeom prst="rect">
            <a:avLst/>
          </a:prstGeom>
        </p:spPr>
      </p:pic>
      <p:sp>
        <p:nvSpPr>
          <p:cNvPr id="5" name="Text 2"/>
          <p:cNvSpPr/>
          <p:nvPr/>
        </p:nvSpPr>
        <p:spPr>
          <a:xfrm>
            <a:off x="1171456" y="2245162"/>
            <a:ext cx="2816066"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Giao Diện Thân Thiện</a:t>
            </a:r>
            <a:endParaRPr lang="en-US" sz="2000" dirty="0">
              <a:latin typeface="Arial" panose="020B0604020202020204" pitchFamily="34" charset="0"/>
              <a:cs typeface="Arial" panose="020B0604020202020204" pitchFamily="34" charset="0"/>
            </a:endParaRPr>
          </a:p>
        </p:txBody>
      </p:sp>
      <p:sp>
        <p:nvSpPr>
          <p:cNvPr id="6" name="Text 3"/>
          <p:cNvSpPr/>
          <p:nvPr/>
        </p:nvSpPr>
        <p:spPr>
          <a:xfrm>
            <a:off x="1171456" y="2689741"/>
            <a:ext cx="5932051" cy="555308"/>
          </a:xfrm>
          <a:prstGeom prst="rect">
            <a:avLst/>
          </a:prstGeom>
          <a:noFill/>
          <a:ln/>
        </p:spPr>
        <p:txBody>
          <a:bodyPr wrap="squar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Website hoàn chỉnh với thiết kế responsive, dễ dàng sử dụng trên mọi thiết bị.</a:t>
            </a:r>
            <a:endParaRPr lang="en-US" sz="16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584" y="3597473"/>
            <a:ext cx="260271" cy="260271"/>
          </a:xfrm>
          <a:prstGeom prst="rect">
            <a:avLst/>
          </a:prstGeom>
        </p:spPr>
      </p:pic>
      <p:sp>
        <p:nvSpPr>
          <p:cNvPr id="8" name="Text 4"/>
          <p:cNvSpPr/>
          <p:nvPr/>
        </p:nvSpPr>
        <p:spPr>
          <a:xfrm>
            <a:off x="1171456" y="3592116"/>
            <a:ext cx="3880604"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Chức Năng Mua Sắm Cơ Bản</a:t>
            </a:r>
            <a:endParaRPr lang="en-US" sz="2000" dirty="0">
              <a:latin typeface="Arial" panose="020B0604020202020204" pitchFamily="34" charset="0"/>
              <a:cs typeface="Arial" panose="020B0604020202020204" pitchFamily="34" charset="0"/>
            </a:endParaRPr>
          </a:p>
        </p:txBody>
      </p:sp>
      <p:sp>
        <p:nvSpPr>
          <p:cNvPr id="9" name="Text 5"/>
          <p:cNvSpPr/>
          <p:nvPr/>
        </p:nvSpPr>
        <p:spPr>
          <a:xfrm>
            <a:off x="1171456" y="4036695"/>
            <a:ext cx="5932051" cy="555308"/>
          </a:xfrm>
          <a:prstGeom prst="rect">
            <a:avLst/>
          </a:prstGeom>
          <a:noFill/>
          <a:ln/>
        </p:spPr>
        <p:txBody>
          <a:bodyPr wrap="squar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Triển khai đầy đủ các tính năng như giỏ hàng, đặt hàng, quản lý tài khoản.</a:t>
            </a:r>
            <a:endParaRPr lang="en-US" sz="16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584" y="4944428"/>
            <a:ext cx="260271" cy="260271"/>
          </a:xfrm>
          <a:prstGeom prst="rect">
            <a:avLst/>
          </a:prstGeom>
        </p:spPr>
      </p:pic>
      <p:sp>
        <p:nvSpPr>
          <p:cNvPr id="11" name="Text 6"/>
          <p:cNvSpPr/>
          <p:nvPr/>
        </p:nvSpPr>
        <p:spPr>
          <a:xfrm>
            <a:off x="1171456" y="4939070"/>
            <a:ext cx="2463522"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Giao Diện Quản Trị</a:t>
            </a:r>
            <a:endParaRPr lang="en-US" sz="2000" dirty="0">
              <a:latin typeface="Arial" panose="020B0604020202020204" pitchFamily="34" charset="0"/>
              <a:cs typeface="Arial" panose="020B0604020202020204" pitchFamily="34" charset="0"/>
            </a:endParaRPr>
          </a:p>
        </p:txBody>
      </p:sp>
      <p:sp>
        <p:nvSpPr>
          <p:cNvPr id="12" name="Text 7"/>
          <p:cNvSpPr/>
          <p:nvPr/>
        </p:nvSpPr>
        <p:spPr>
          <a:xfrm>
            <a:off x="1171456" y="5383649"/>
            <a:ext cx="5932051" cy="555308"/>
          </a:xfrm>
          <a:prstGeom prst="rect">
            <a:avLst/>
          </a:prstGeom>
          <a:noFill/>
          <a:ln/>
        </p:spPr>
        <p:txBody>
          <a:bodyPr wrap="squar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Hoàn thành giao diện quản lý sản phẩm, đơn hàng, khách hàng cho Admin.</a:t>
            </a:r>
            <a:endParaRPr lang="en-US" sz="1600" dirty="0">
              <a:latin typeface="Arial" panose="020B0604020202020204" pitchFamily="34" charset="0"/>
              <a:cs typeface="Arial" panose="020B0604020202020204" pitchFamily="34" charset="0"/>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584" y="6291382"/>
            <a:ext cx="260271" cy="260271"/>
          </a:xfrm>
          <a:prstGeom prst="rect">
            <a:avLst/>
          </a:prstGeom>
        </p:spPr>
      </p:pic>
      <p:sp>
        <p:nvSpPr>
          <p:cNvPr id="14" name="Text 8"/>
          <p:cNvSpPr/>
          <p:nvPr/>
        </p:nvSpPr>
        <p:spPr>
          <a:xfrm>
            <a:off x="1171456" y="6286024"/>
            <a:ext cx="2677835"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Vận Dụng Lý Thuyết</a:t>
            </a:r>
            <a:endParaRPr lang="en-US" sz="2000" dirty="0">
              <a:latin typeface="Arial" panose="020B0604020202020204" pitchFamily="34" charset="0"/>
              <a:cs typeface="Arial" panose="020B0604020202020204" pitchFamily="34" charset="0"/>
            </a:endParaRPr>
          </a:p>
        </p:txBody>
      </p:sp>
      <p:sp>
        <p:nvSpPr>
          <p:cNvPr id="15" name="Text 9"/>
          <p:cNvSpPr/>
          <p:nvPr/>
        </p:nvSpPr>
        <p:spPr>
          <a:xfrm>
            <a:off x="1171456" y="6730603"/>
            <a:ext cx="5932051" cy="555308"/>
          </a:xfrm>
          <a:prstGeom prst="rect">
            <a:avLst/>
          </a:prstGeom>
          <a:noFill/>
          <a:ln/>
        </p:spPr>
        <p:txBody>
          <a:bodyPr wrap="squar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Áp dụng thành công kiến thức Phân tích &amp; Thiết kế hệ thống vào thực tiễn.</a:t>
            </a:r>
            <a:endParaRPr lang="en-US" sz="1600" dirty="0">
              <a:latin typeface="Arial" panose="020B0604020202020204" pitchFamily="34" charset="0"/>
              <a:cs typeface="Arial" panose="020B0604020202020204" pitchFamily="34" charset="0"/>
            </a:endParaRPr>
          </a:p>
        </p:txBody>
      </p:sp>
      <p:sp>
        <p:nvSpPr>
          <p:cNvPr id="16" name="Text 10"/>
          <p:cNvSpPr/>
          <p:nvPr/>
        </p:nvSpPr>
        <p:spPr>
          <a:xfrm>
            <a:off x="7534513" y="1724501"/>
            <a:ext cx="2603778" cy="325398"/>
          </a:xfrm>
          <a:prstGeom prst="rect">
            <a:avLst/>
          </a:prstGeom>
          <a:noFill/>
          <a:ln/>
        </p:spPr>
        <p:txBody>
          <a:bodyPr wrap="none" lIns="0" tIns="0" rIns="0" bIns="0" rtlCol="0" anchor="t"/>
          <a:lstStyle/>
          <a:p>
            <a:pPr marL="0" indent="0" algn="l">
              <a:lnSpc>
                <a:spcPts val="2550"/>
              </a:lnSpc>
              <a:buNone/>
            </a:pPr>
            <a:r>
              <a:rPr lang="en-US" sz="2800" b="1" dirty="0">
                <a:solidFill>
                  <a:srgbClr val="333F70"/>
                </a:solidFill>
                <a:latin typeface="Arial" panose="020B0604020202020204" pitchFamily="34" charset="0"/>
                <a:ea typeface="Unbounded Bold" pitchFamily="34" charset="-122"/>
                <a:cs typeface="Arial" panose="020B0604020202020204" pitchFamily="34" charset="0"/>
              </a:rPr>
              <a:t>Những Hạn Chế</a:t>
            </a:r>
            <a:endParaRPr lang="en-US" sz="2800" dirty="0">
              <a:latin typeface="Arial" panose="020B0604020202020204" pitchFamily="34" charset="0"/>
              <a:cs typeface="Arial" panose="020B0604020202020204" pitchFamily="34" charset="0"/>
            </a:endParaRPr>
          </a:p>
        </p:txBody>
      </p:sp>
      <p:pic>
        <p:nvPicPr>
          <p:cNvPr id="17"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99640" y="2250519"/>
            <a:ext cx="260271" cy="260271"/>
          </a:xfrm>
          <a:prstGeom prst="rect">
            <a:avLst/>
          </a:prstGeom>
        </p:spPr>
      </p:pic>
      <p:sp>
        <p:nvSpPr>
          <p:cNvPr id="18" name="Text 11"/>
          <p:cNvSpPr/>
          <p:nvPr/>
        </p:nvSpPr>
        <p:spPr>
          <a:xfrm>
            <a:off x="8098512" y="2245162"/>
            <a:ext cx="3093125"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Thiếu Backend Thực Tế</a:t>
            </a:r>
            <a:endParaRPr lang="en-US" sz="2000" dirty="0">
              <a:latin typeface="Arial" panose="020B0604020202020204" pitchFamily="34" charset="0"/>
              <a:cs typeface="Arial" panose="020B0604020202020204" pitchFamily="34" charset="0"/>
            </a:endParaRPr>
          </a:p>
        </p:txBody>
      </p:sp>
      <p:sp>
        <p:nvSpPr>
          <p:cNvPr id="19" name="Text 12"/>
          <p:cNvSpPr/>
          <p:nvPr/>
        </p:nvSpPr>
        <p:spPr>
          <a:xfrm>
            <a:off x="7729775" y="2724448"/>
            <a:ext cx="5932051" cy="277654"/>
          </a:xfrm>
          <a:prstGeom prst="rect">
            <a:avLst/>
          </a:prstGeom>
          <a:noFill/>
          <a:ln/>
        </p:spPr>
        <p:txBody>
          <a:bodyPr wrap="non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Dữ liệu được lưu trữ cục bộ, thiếu cơ sở dữ liệu và API xử lý phía máy chủ.</a:t>
            </a:r>
            <a:endParaRPr lang="en-US" sz="1600" dirty="0">
              <a:latin typeface="Arial" panose="020B0604020202020204" pitchFamily="34" charset="0"/>
              <a:cs typeface="Arial" panose="020B0604020202020204" pitchFamily="34" charset="0"/>
            </a:endParaRPr>
          </a:p>
        </p:txBody>
      </p:sp>
      <p:pic>
        <p:nvPicPr>
          <p:cNvPr id="20"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99640" y="3319820"/>
            <a:ext cx="260271" cy="260271"/>
          </a:xfrm>
          <a:prstGeom prst="rect">
            <a:avLst/>
          </a:prstGeom>
        </p:spPr>
      </p:pic>
      <p:sp>
        <p:nvSpPr>
          <p:cNvPr id="21" name="Text 13"/>
          <p:cNvSpPr/>
          <p:nvPr/>
        </p:nvSpPr>
        <p:spPr>
          <a:xfrm>
            <a:off x="8098512" y="3314462"/>
            <a:ext cx="3486388"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Thanh Toán Chỉ Mô Phỏng</a:t>
            </a:r>
            <a:endParaRPr lang="en-US" sz="2000" dirty="0">
              <a:latin typeface="Arial" panose="020B0604020202020204" pitchFamily="34" charset="0"/>
              <a:cs typeface="Arial" panose="020B0604020202020204" pitchFamily="34" charset="0"/>
            </a:endParaRPr>
          </a:p>
        </p:txBody>
      </p:sp>
      <p:sp>
        <p:nvSpPr>
          <p:cNvPr id="22" name="Text 14"/>
          <p:cNvSpPr/>
          <p:nvPr/>
        </p:nvSpPr>
        <p:spPr>
          <a:xfrm>
            <a:off x="8098512" y="3759041"/>
            <a:ext cx="5932051" cy="555308"/>
          </a:xfrm>
          <a:prstGeom prst="rect">
            <a:avLst/>
          </a:prstGeom>
          <a:noFill/>
          <a:ln/>
        </p:spPr>
        <p:txBody>
          <a:bodyPr wrap="squar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Chức năng thanh toán trực tuyến chưa được tích hợp cổng thanh toán thực tế.</a:t>
            </a:r>
            <a:endParaRPr lang="en-US" sz="1600" dirty="0">
              <a:latin typeface="Arial" panose="020B0604020202020204" pitchFamily="34" charset="0"/>
              <a:cs typeface="Arial" panose="020B0604020202020204" pitchFamily="34" charset="0"/>
            </a:endParaRPr>
          </a:p>
        </p:txBody>
      </p:sp>
      <p:pic>
        <p:nvPicPr>
          <p:cNvPr id="23" name="Image 6"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99640" y="4666774"/>
            <a:ext cx="260271" cy="260271"/>
          </a:xfrm>
          <a:prstGeom prst="rect">
            <a:avLst/>
          </a:prstGeom>
        </p:spPr>
      </p:pic>
      <p:sp>
        <p:nvSpPr>
          <p:cNvPr id="24" name="Text 15"/>
          <p:cNvSpPr/>
          <p:nvPr/>
        </p:nvSpPr>
        <p:spPr>
          <a:xfrm>
            <a:off x="8098512" y="4661416"/>
            <a:ext cx="3236000"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Logic Phức Tạp Hạn Chế</a:t>
            </a:r>
            <a:endParaRPr lang="en-US" sz="2000" dirty="0">
              <a:latin typeface="Arial" panose="020B0604020202020204" pitchFamily="34" charset="0"/>
              <a:cs typeface="Arial" panose="020B0604020202020204" pitchFamily="34" charset="0"/>
            </a:endParaRPr>
          </a:p>
        </p:txBody>
      </p:sp>
      <p:sp>
        <p:nvSpPr>
          <p:cNvPr id="25" name="Text 16"/>
          <p:cNvSpPr/>
          <p:nvPr/>
        </p:nvSpPr>
        <p:spPr>
          <a:xfrm>
            <a:off x="8098512" y="5105995"/>
            <a:ext cx="5932051" cy="555308"/>
          </a:xfrm>
          <a:prstGeom prst="rect">
            <a:avLst/>
          </a:prstGeom>
          <a:noFill/>
          <a:ln/>
        </p:spPr>
        <p:txBody>
          <a:bodyPr wrap="squar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Chức năng tìm kiếm và lọc sản phẩm còn đơn giản, chưa có logic xử lý nâng cao.</a:t>
            </a:r>
            <a:endParaRPr lang="en-US" sz="1600" dirty="0">
              <a:latin typeface="Arial" panose="020B0604020202020204" pitchFamily="34" charset="0"/>
              <a:cs typeface="Arial" panose="020B0604020202020204" pitchFamily="34" charset="0"/>
            </a:endParaRPr>
          </a:p>
        </p:txBody>
      </p:sp>
      <p:pic>
        <p:nvPicPr>
          <p:cNvPr id="26" name="Image 7"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99640" y="6013728"/>
            <a:ext cx="260271" cy="260271"/>
          </a:xfrm>
          <a:prstGeom prst="rect">
            <a:avLst/>
          </a:prstGeom>
        </p:spPr>
      </p:pic>
      <p:sp>
        <p:nvSpPr>
          <p:cNvPr id="27" name="Text 17"/>
          <p:cNvSpPr/>
          <p:nvPr/>
        </p:nvSpPr>
        <p:spPr>
          <a:xfrm>
            <a:off x="8098512" y="6008370"/>
            <a:ext cx="2315766" cy="271105"/>
          </a:xfrm>
          <a:prstGeom prst="rect">
            <a:avLst/>
          </a:prstGeom>
          <a:noFill/>
          <a:ln/>
        </p:spPr>
        <p:txBody>
          <a:bodyPr wrap="none" lIns="0" tIns="0" rIns="0" bIns="0" rtlCol="0" anchor="t"/>
          <a:lstStyle/>
          <a:p>
            <a:pPr marL="0" indent="0" algn="l">
              <a:lnSpc>
                <a:spcPts val="21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Giới Hạn Kỹ Năng</a:t>
            </a:r>
            <a:endParaRPr lang="en-US" sz="2000" dirty="0">
              <a:latin typeface="Arial" panose="020B0604020202020204" pitchFamily="34" charset="0"/>
              <a:cs typeface="Arial" panose="020B0604020202020204" pitchFamily="34" charset="0"/>
            </a:endParaRPr>
          </a:p>
        </p:txBody>
      </p:sp>
      <p:sp>
        <p:nvSpPr>
          <p:cNvPr id="28" name="Text 18"/>
          <p:cNvSpPr/>
          <p:nvPr/>
        </p:nvSpPr>
        <p:spPr>
          <a:xfrm>
            <a:off x="8098512" y="6452949"/>
            <a:ext cx="5932051" cy="555308"/>
          </a:xfrm>
          <a:prstGeom prst="rect">
            <a:avLst/>
          </a:prstGeom>
          <a:noFill/>
          <a:ln/>
        </p:spPr>
        <p:txBody>
          <a:bodyPr wrap="square" lIns="0" tIns="0" rIns="0" bIns="0" rtlCol="0" anchor="t"/>
          <a:lstStyle/>
          <a:p>
            <a:pPr marL="0" indent="0" algn="l">
              <a:lnSpc>
                <a:spcPts val="2150"/>
              </a:lnSpc>
              <a:buNone/>
            </a:pPr>
            <a:r>
              <a:rPr lang="en-US" sz="1600" dirty="0">
                <a:solidFill>
                  <a:srgbClr val="333F70"/>
                </a:solidFill>
                <a:latin typeface="Arial" panose="020B0604020202020204" pitchFamily="34" charset="0"/>
                <a:ea typeface="Open Sans" pitchFamily="34" charset="-122"/>
                <a:cs typeface="Arial" panose="020B0604020202020204" pitchFamily="34" charset="0"/>
              </a:rPr>
              <a:t>Khả năng tích hợp hệ thống backend thực tế còn hạn chế, cần thêm thời gian để nâng cao.</a:t>
            </a:r>
            <a:endParaRPr lang="en-US" sz="16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08794097-E020-4871-A079-B576BFCADD95}"/>
              </a:ext>
            </a:extLst>
          </p:cNvPr>
          <p:cNvSpPr txBox="1"/>
          <p:nvPr/>
        </p:nvSpPr>
        <p:spPr>
          <a:xfrm>
            <a:off x="14030564" y="7730957"/>
            <a:ext cx="499476" cy="369332"/>
          </a:xfrm>
          <a:prstGeom prst="rect">
            <a:avLst/>
          </a:prstGeom>
          <a:noFill/>
        </p:spPr>
        <p:txBody>
          <a:bodyPr wrap="square" rtlCol="0">
            <a:spAutoFit/>
          </a:bodyPr>
          <a:lstStyle/>
          <a:p>
            <a:r>
              <a:rPr lang="en-US"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2702" y="520660"/>
            <a:ext cx="8111490" cy="591741"/>
          </a:xfrm>
          <a:prstGeom prst="rect">
            <a:avLst/>
          </a:prstGeom>
          <a:noFill/>
          <a:ln/>
        </p:spPr>
        <p:txBody>
          <a:bodyPr wrap="none" lIns="0" tIns="0" rIns="0" bIns="0" rtlCol="0" anchor="t"/>
          <a:lstStyle/>
          <a:p>
            <a:pPr marL="0" indent="0" algn="l">
              <a:lnSpc>
                <a:spcPts val="4650"/>
              </a:lnSpc>
              <a:buNone/>
            </a:pPr>
            <a:r>
              <a:rPr lang="en-US" sz="3700" b="1" dirty="0">
                <a:solidFill>
                  <a:srgbClr val="333F70"/>
                </a:solidFill>
                <a:latin typeface="Arial" panose="020B0604020202020204" pitchFamily="34" charset="0"/>
                <a:ea typeface="Unbounded Bold" pitchFamily="34" charset="-122"/>
                <a:cs typeface="Arial" panose="020B0604020202020204" pitchFamily="34" charset="0"/>
              </a:rPr>
              <a:t>Hướng </a:t>
            </a:r>
            <a:r>
              <a:rPr lang="en-US" sz="3700" b="1" dirty="0" err="1">
                <a:solidFill>
                  <a:srgbClr val="333F70"/>
                </a:solidFill>
                <a:latin typeface="Arial" panose="020B0604020202020204" pitchFamily="34" charset="0"/>
                <a:ea typeface="Unbounded Bold" pitchFamily="34" charset="-122"/>
                <a:cs typeface="Arial" panose="020B0604020202020204" pitchFamily="34" charset="0"/>
              </a:rPr>
              <a:t>Phát</a:t>
            </a:r>
            <a:r>
              <a:rPr lang="en-US" sz="3700" b="1" dirty="0">
                <a:solidFill>
                  <a:srgbClr val="333F70"/>
                </a:solidFill>
                <a:latin typeface="Arial" panose="020B0604020202020204" pitchFamily="34" charset="0"/>
                <a:ea typeface="Unbounded Bold" pitchFamily="34" charset="-122"/>
                <a:cs typeface="Arial" panose="020B0604020202020204" pitchFamily="34" charset="0"/>
              </a:rPr>
              <a:t> </a:t>
            </a:r>
            <a:r>
              <a:rPr lang="en-US" sz="3700" b="1" dirty="0" err="1">
                <a:solidFill>
                  <a:srgbClr val="333F70"/>
                </a:solidFill>
                <a:latin typeface="Arial" panose="020B0604020202020204" pitchFamily="34" charset="0"/>
                <a:ea typeface="Unbounded Bold" pitchFamily="34" charset="-122"/>
                <a:cs typeface="Arial" panose="020B0604020202020204" pitchFamily="34" charset="0"/>
              </a:rPr>
              <a:t>Triển</a:t>
            </a:r>
            <a:endParaRPr lang="en-US" sz="3700" dirty="0">
              <a:latin typeface="Arial" panose="020B0604020202020204" pitchFamily="34" charset="0"/>
              <a:cs typeface="Arial" panose="020B0604020202020204" pitchFamily="34" charset="0"/>
            </a:endParaRPr>
          </a:p>
        </p:txBody>
      </p:sp>
      <p:sp>
        <p:nvSpPr>
          <p:cNvPr id="3" name="Shape 1"/>
          <p:cNvSpPr/>
          <p:nvPr/>
        </p:nvSpPr>
        <p:spPr>
          <a:xfrm>
            <a:off x="7303770" y="1491139"/>
            <a:ext cx="22860" cy="5580578"/>
          </a:xfrm>
          <a:prstGeom prst="roundRect">
            <a:avLst>
              <a:gd name="adj" fmla="val 347924"/>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4" name="Shape 2"/>
          <p:cNvSpPr/>
          <p:nvPr/>
        </p:nvSpPr>
        <p:spPr>
          <a:xfrm>
            <a:off x="6557010" y="1692712"/>
            <a:ext cx="568047" cy="22860"/>
          </a:xfrm>
          <a:prstGeom prst="roundRect">
            <a:avLst>
              <a:gd name="adj" fmla="val 347924"/>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5" name="Shape 3"/>
          <p:cNvSpPr/>
          <p:nvPr/>
        </p:nvSpPr>
        <p:spPr>
          <a:xfrm>
            <a:off x="7102197" y="1491139"/>
            <a:ext cx="426006" cy="426006"/>
          </a:xfrm>
          <a:prstGeom prst="roundRect">
            <a:avLst>
              <a:gd name="adj" fmla="val 1867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6" name="Text 4"/>
          <p:cNvSpPr/>
          <p:nvPr/>
        </p:nvSpPr>
        <p:spPr>
          <a:xfrm>
            <a:off x="7173218" y="1526619"/>
            <a:ext cx="283964" cy="355044"/>
          </a:xfrm>
          <a:prstGeom prst="rect">
            <a:avLst/>
          </a:prstGeom>
          <a:noFill/>
          <a:ln/>
        </p:spPr>
        <p:txBody>
          <a:bodyPr wrap="none" lIns="0" tIns="0" rIns="0" bIns="0" rtlCol="0" anchor="t"/>
          <a:lstStyle/>
          <a:p>
            <a:pPr marL="0" indent="0" algn="ctr">
              <a:lnSpc>
                <a:spcPts val="220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1</a:t>
            </a:r>
            <a:endParaRPr lang="en-US" sz="2200" dirty="0">
              <a:latin typeface="Arial" panose="020B0604020202020204" pitchFamily="34" charset="0"/>
              <a:cs typeface="Arial" panose="020B0604020202020204" pitchFamily="34" charset="0"/>
            </a:endParaRPr>
          </a:p>
        </p:txBody>
      </p:sp>
      <p:sp>
        <p:nvSpPr>
          <p:cNvPr id="7" name="Text 5"/>
          <p:cNvSpPr/>
          <p:nvPr/>
        </p:nvSpPr>
        <p:spPr>
          <a:xfrm>
            <a:off x="1067276" y="1526619"/>
            <a:ext cx="5301139" cy="355044"/>
          </a:xfrm>
          <a:prstGeom prst="rect">
            <a:avLst/>
          </a:prstGeom>
          <a:noFill/>
          <a:ln/>
        </p:spPr>
        <p:txBody>
          <a:bodyPr wrap="none" lIns="0" tIns="0" rIns="0" bIns="0" rtlCol="0" anchor="t"/>
          <a:lstStyle/>
          <a:p>
            <a:pPr marL="0" indent="0" algn="r">
              <a:lnSpc>
                <a:spcPts val="275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Tích Hợp Backend Hoàn Chỉnh</a:t>
            </a:r>
            <a:endParaRPr lang="en-US" sz="2200" dirty="0">
              <a:latin typeface="Arial" panose="020B0604020202020204" pitchFamily="34" charset="0"/>
              <a:cs typeface="Arial" panose="020B0604020202020204" pitchFamily="34" charset="0"/>
            </a:endParaRPr>
          </a:p>
        </p:txBody>
      </p:sp>
      <p:sp>
        <p:nvSpPr>
          <p:cNvPr id="8" name="Text 6"/>
          <p:cNvSpPr/>
          <p:nvPr/>
        </p:nvSpPr>
        <p:spPr>
          <a:xfrm>
            <a:off x="662702" y="1995249"/>
            <a:ext cx="5705713" cy="606028"/>
          </a:xfrm>
          <a:prstGeom prst="rect">
            <a:avLst/>
          </a:prstGeom>
          <a:noFill/>
          <a:ln/>
        </p:spPr>
        <p:txBody>
          <a:bodyPr wrap="square" lIns="0" tIns="0" rIns="0" bIns="0" rtlCol="0" anchor="t"/>
          <a:lstStyle/>
          <a:p>
            <a:pPr marL="0" indent="0" algn="r">
              <a:lnSpc>
                <a:spcPts val="2350"/>
              </a:lnSpc>
              <a:buNone/>
            </a:pPr>
            <a:r>
              <a:rPr lang="en-US" sz="1450" dirty="0">
                <a:solidFill>
                  <a:srgbClr val="333F70"/>
                </a:solidFill>
                <a:latin typeface="Arial" panose="020B0604020202020204" pitchFamily="34" charset="0"/>
                <a:ea typeface="Open Sans" pitchFamily="34" charset="-122"/>
                <a:cs typeface="Arial" panose="020B0604020202020204" pitchFamily="34" charset="0"/>
              </a:rPr>
              <a:t>Xây dựng API Backend với cơ sở dữ liệu thực (MongoDB, MySQL) để quản lý dữ liệu động.</a:t>
            </a:r>
            <a:endParaRPr lang="en-US" sz="1450" dirty="0">
              <a:latin typeface="Arial" panose="020B0604020202020204" pitchFamily="34" charset="0"/>
              <a:cs typeface="Arial" panose="020B0604020202020204" pitchFamily="34" charset="0"/>
            </a:endParaRPr>
          </a:p>
        </p:txBody>
      </p:sp>
      <p:sp>
        <p:nvSpPr>
          <p:cNvPr id="9" name="Shape 7"/>
          <p:cNvSpPr/>
          <p:nvPr/>
        </p:nvSpPr>
        <p:spPr>
          <a:xfrm>
            <a:off x="7505343" y="2828925"/>
            <a:ext cx="568047" cy="22860"/>
          </a:xfrm>
          <a:prstGeom prst="roundRect">
            <a:avLst>
              <a:gd name="adj" fmla="val 347924"/>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10" name="Shape 8"/>
          <p:cNvSpPr/>
          <p:nvPr/>
        </p:nvSpPr>
        <p:spPr>
          <a:xfrm>
            <a:off x="7102197" y="2627352"/>
            <a:ext cx="426006" cy="426006"/>
          </a:xfrm>
          <a:prstGeom prst="roundRect">
            <a:avLst>
              <a:gd name="adj" fmla="val 1867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11" name="Text 9"/>
          <p:cNvSpPr/>
          <p:nvPr/>
        </p:nvSpPr>
        <p:spPr>
          <a:xfrm>
            <a:off x="7173218" y="2662833"/>
            <a:ext cx="283964" cy="355044"/>
          </a:xfrm>
          <a:prstGeom prst="rect">
            <a:avLst/>
          </a:prstGeom>
          <a:noFill/>
          <a:ln/>
        </p:spPr>
        <p:txBody>
          <a:bodyPr wrap="none" lIns="0" tIns="0" rIns="0" bIns="0" rtlCol="0" anchor="t"/>
          <a:lstStyle/>
          <a:p>
            <a:pPr marL="0" indent="0" algn="ctr">
              <a:lnSpc>
                <a:spcPts val="220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2</a:t>
            </a:r>
            <a:endParaRPr lang="en-US" sz="2200" dirty="0">
              <a:latin typeface="Arial" panose="020B0604020202020204" pitchFamily="34" charset="0"/>
              <a:cs typeface="Arial" panose="020B0604020202020204" pitchFamily="34" charset="0"/>
            </a:endParaRPr>
          </a:p>
        </p:txBody>
      </p:sp>
      <p:sp>
        <p:nvSpPr>
          <p:cNvPr id="12" name="Text 10"/>
          <p:cNvSpPr/>
          <p:nvPr/>
        </p:nvSpPr>
        <p:spPr>
          <a:xfrm>
            <a:off x="8261985" y="2662833"/>
            <a:ext cx="4908113" cy="355044"/>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Triển Khai Cổng Thanh Toán</a:t>
            </a:r>
            <a:endParaRPr lang="en-US" sz="2200" dirty="0">
              <a:latin typeface="Arial" panose="020B0604020202020204" pitchFamily="34" charset="0"/>
              <a:cs typeface="Arial" panose="020B0604020202020204" pitchFamily="34" charset="0"/>
            </a:endParaRPr>
          </a:p>
        </p:txBody>
      </p:sp>
      <p:sp>
        <p:nvSpPr>
          <p:cNvPr id="13" name="Text 11"/>
          <p:cNvSpPr/>
          <p:nvPr/>
        </p:nvSpPr>
        <p:spPr>
          <a:xfrm>
            <a:off x="8261985" y="3131463"/>
            <a:ext cx="5705713" cy="606028"/>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Arial" panose="020B0604020202020204" pitchFamily="34" charset="0"/>
                <a:ea typeface="Open Sans" pitchFamily="34" charset="-122"/>
                <a:cs typeface="Arial" panose="020B0604020202020204" pitchFamily="34" charset="0"/>
              </a:rPr>
              <a:t>Tích hợp các cổng thanh toán trực tuyến (VNPAY, PayPal) để xử lý giao dịch an toàn.</a:t>
            </a:r>
            <a:endParaRPr lang="en-US" sz="1450" dirty="0">
              <a:latin typeface="Arial" panose="020B0604020202020204" pitchFamily="34" charset="0"/>
              <a:cs typeface="Arial" panose="020B0604020202020204" pitchFamily="34" charset="0"/>
            </a:endParaRPr>
          </a:p>
        </p:txBody>
      </p:sp>
      <p:sp>
        <p:nvSpPr>
          <p:cNvPr id="14" name="Shape 12"/>
          <p:cNvSpPr/>
          <p:nvPr/>
        </p:nvSpPr>
        <p:spPr>
          <a:xfrm>
            <a:off x="6557010" y="3793450"/>
            <a:ext cx="568047" cy="22860"/>
          </a:xfrm>
          <a:prstGeom prst="roundRect">
            <a:avLst>
              <a:gd name="adj" fmla="val 347924"/>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15" name="Shape 13"/>
          <p:cNvSpPr/>
          <p:nvPr/>
        </p:nvSpPr>
        <p:spPr>
          <a:xfrm>
            <a:off x="7102197" y="3591878"/>
            <a:ext cx="426006" cy="426006"/>
          </a:xfrm>
          <a:prstGeom prst="roundRect">
            <a:avLst>
              <a:gd name="adj" fmla="val 1867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16" name="Text 14"/>
          <p:cNvSpPr/>
          <p:nvPr/>
        </p:nvSpPr>
        <p:spPr>
          <a:xfrm>
            <a:off x="7173218" y="3627358"/>
            <a:ext cx="283964" cy="355044"/>
          </a:xfrm>
          <a:prstGeom prst="rect">
            <a:avLst/>
          </a:prstGeom>
          <a:noFill/>
          <a:ln/>
        </p:spPr>
        <p:txBody>
          <a:bodyPr wrap="none" lIns="0" tIns="0" rIns="0" bIns="0" rtlCol="0" anchor="t"/>
          <a:lstStyle/>
          <a:p>
            <a:pPr marL="0" indent="0" algn="ctr">
              <a:lnSpc>
                <a:spcPts val="220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3</a:t>
            </a:r>
            <a:endParaRPr lang="en-US" sz="2200" dirty="0">
              <a:latin typeface="Arial" panose="020B0604020202020204" pitchFamily="34" charset="0"/>
              <a:cs typeface="Arial" panose="020B0604020202020204" pitchFamily="34" charset="0"/>
            </a:endParaRPr>
          </a:p>
        </p:txBody>
      </p:sp>
      <p:sp>
        <p:nvSpPr>
          <p:cNvPr id="17" name="Text 15"/>
          <p:cNvSpPr/>
          <p:nvPr/>
        </p:nvSpPr>
        <p:spPr>
          <a:xfrm>
            <a:off x="1207056" y="3627358"/>
            <a:ext cx="5161359" cy="355044"/>
          </a:xfrm>
          <a:prstGeom prst="rect">
            <a:avLst/>
          </a:prstGeom>
          <a:noFill/>
          <a:ln/>
        </p:spPr>
        <p:txBody>
          <a:bodyPr wrap="none" lIns="0" tIns="0" rIns="0" bIns="0" rtlCol="0" anchor="t"/>
          <a:lstStyle/>
          <a:p>
            <a:pPr marL="0" indent="0" algn="r">
              <a:lnSpc>
                <a:spcPts val="275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Áp Dụng Framework Hiện Đại</a:t>
            </a:r>
            <a:endParaRPr lang="en-US" sz="2200" dirty="0">
              <a:latin typeface="Arial" panose="020B0604020202020204" pitchFamily="34" charset="0"/>
              <a:cs typeface="Arial" panose="020B0604020202020204" pitchFamily="34" charset="0"/>
            </a:endParaRPr>
          </a:p>
        </p:txBody>
      </p:sp>
      <p:sp>
        <p:nvSpPr>
          <p:cNvPr id="18" name="Text 16"/>
          <p:cNvSpPr/>
          <p:nvPr/>
        </p:nvSpPr>
        <p:spPr>
          <a:xfrm>
            <a:off x="662702" y="4095988"/>
            <a:ext cx="5705713" cy="606028"/>
          </a:xfrm>
          <a:prstGeom prst="rect">
            <a:avLst/>
          </a:prstGeom>
          <a:noFill/>
          <a:ln/>
        </p:spPr>
        <p:txBody>
          <a:bodyPr wrap="square" lIns="0" tIns="0" rIns="0" bIns="0" rtlCol="0" anchor="t"/>
          <a:lstStyle/>
          <a:p>
            <a:pPr marL="0" indent="0" algn="r">
              <a:lnSpc>
                <a:spcPts val="2350"/>
              </a:lnSpc>
              <a:buNone/>
            </a:pPr>
            <a:r>
              <a:rPr lang="en-US" sz="1450" dirty="0">
                <a:solidFill>
                  <a:srgbClr val="333F70"/>
                </a:solidFill>
                <a:latin typeface="Arial" panose="020B0604020202020204" pitchFamily="34" charset="0"/>
                <a:ea typeface="Open Sans" pitchFamily="34" charset="-122"/>
                <a:cs typeface="Arial" panose="020B0604020202020204" pitchFamily="34" charset="0"/>
              </a:rPr>
              <a:t>Sử dụng React, Angular hoặc Vue.js để tối ưu hóa hiệu năng và khả năng mở rộng của Front-end.</a:t>
            </a:r>
            <a:endParaRPr lang="en-US" sz="1450" dirty="0">
              <a:latin typeface="Arial" panose="020B0604020202020204" pitchFamily="34" charset="0"/>
              <a:cs typeface="Arial" panose="020B0604020202020204" pitchFamily="34" charset="0"/>
            </a:endParaRPr>
          </a:p>
        </p:txBody>
      </p:sp>
      <p:sp>
        <p:nvSpPr>
          <p:cNvPr id="19" name="Shape 17"/>
          <p:cNvSpPr/>
          <p:nvPr/>
        </p:nvSpPr>
        <p:spPr>
          <a:xfrm>
            <a:off x="7505343" y="4758095"/>
            <a:ext cx="568047" cy="22860"/>
          </a:xfrm>
          <a:prstGeom prst="roundRect">
            <a:avLst>
              <a:gd name="adj" fmla="val 347924"/>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20" name="Shape 18"/>
          <p:cNvSpPr/>
          <p:nvPr/>
        </p:nvSpPr>
        <p:spPr>
          <a:xfrm>
            <a:off x="7102197" y="4556522"/>
            <a:ext cx="426006" cy="426006"/>
          </a:xfrm>
          <a:prstGeom prst="roundRect">
            <a:avLst>
              <a:gd name="adj" fmla="val 1867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21" name="Text 19"/>
          <p:cNvSpPr/>
          <p:nvPr/>
        </p:nvSpPr>
        <p:spPr>
          <a:xfrm>
            <a:off x="7173218" y="4592003"/>
            <a:ext cx="283964" cy="355044"/>
          </a:xfrm>
          <a:prstGeom prst="rect">
            <a:avLst/>
          </a:prstGeom>
          <a:noFill/>
          <a:ln/>
        </p:spPr>
        <p:txBody>
          <a:bodyPr wrap="none" lIns="0" tIns="0" rIns="0" bIns="0" rtlCol="0" anchor="t"/>
          <a:lstStyle/>
          <a:p>
            <a:pPr marL="0" indent="0" algn="ctr">
              <a:lnSpc>
                <a:spcPts val="220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4</a:t>
            </a:r>
            <a:endParaRPr lang="en-US" sz="2200" dirty="0">
              <a:latin typeface="Arial" panose="020B0604020202020204" pitchFamily="34" charset="0"/>
              <a:cs typeface="Arial" panose="020B0604020202020204" pitchFamily="34" charset="0"/>
            </a:endParaRPr>
          </a:p>
        </p:txBody>
      </p:sp>
      <p:sp>
        <p:nvSpPr>
          <p:cNvPr id="22" name="Text 20"/>
          <p:cNvSpPr/>
          <p:nvPr/>
        </p:nvSpPr>
        <p:spPr>
          <a:xfrm>
            <a:off x="8261985" y="4592003"/>
            <a:ext cx="3793212" cy="355044"/>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Tối Ưu SEO &amp; Bảo Mật</a:t>
            </a:r>
            <a:endParaRPr lang="en-US" sz="2200" dirty="0">
              <a:latin typeface="Arial" panose="020B0604020202020204" pitchFamily="34" charset="0"/>
              <a:cs typeface="Arial" panose="020B0604020202020204" pitchFamily="34" charset="0"/>
            </a:endParaRPr>
          </a:p>
        </p:txBody>
      </p:sp>
      <p:sp>
        <p:nvSpPr>
          <p:cNvPr id="23" name="Text 21"/>
          <p:cNvSpPr/>
          <p:nvPr/>
        </p:nvSpPr>
        <p:spPr>
          <a:xfrm>
            <a:off x="8261985" y="5060633"/>
            <a:ext cx="5705713" cy="606028"/>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Arial" panose="020B0604020202020204" pitchFamily="34" charset="0"/>
                <a:ea typeface="Open Sans" pitchFamily="34" charset="-122"/>
                <a:cs typeface="Arial" panose="020B0604020202020204" pitchFamily="34" charset="0"/>
              </a:rPr>
              <a:t>Nâng cao khả năng tìm kiếm (SEO) và tăng cường bảo mật cho hệ thống.</a:t>
            </a:r>
            <a:endParaRPr lang="en-US" sz="1450" dirty="0">
              <a:latin typeface="Arial" panose="020B0604020202020204" pitchFamily="34" charset="0"/>
              <a:cs typeface="Arial" panose="020B0604020202020204" pitchFamily="34" charset="0"/>
            </a:endParaRPr>
          </a:p>
        </p:txBody>
      </p:sp>
      <p:sp>
        <p:nvSpPr>
          <p:cNvPr id="24" name="Shape 22"/>
          <p:cNvSpPr/>
          <p:nvPr/>
        </p:nvSpPr>
        <p:spPr>
          <a:xfrm>
            <a:off x="6557010" y="5722739"/>
            <a:ext cx="568047" cy="22860"/>
          </a:xfrm>
          <a:prstGeom prst="roundRect">
            <a:avLst>
              <a:gd name="adj" fmla="val 347924"/>
            </a:avLst>
          </a:prstGeom>
          <a:solidFill>
            <a:srgbClr val="BCDBD4"/>
          </a:solidFill>
          <a:ln/>
        </p:spPr>
        <p:txBody>
          <a:bodyPr/>
          <a:lstStyle/>
          <a:p>
            <a:endParaRPr lang="en-US">
              <a:latin typeface="Arial" panose="020B0604020202020204" pitchFamily="34" charset="0"/>
              <a:cs typeface="Arial" panose="020B0604020202020204" pitchFamily="34" charset="0"/>
            </a:endParaRPr>
          </a:p>
        </p:txBody>
      </p:sp>
      <p:sp>
        <p:nvSpPr>
          <p:cNvPr id="25" name="Shape 23"/>
          <p:cNvSpPr/>
          <p:nvPr/>
        </p:nvSpPr>
        <p:spPr>
          <a:xfrm>
            <a:off x="7102197" y="5521166"/>
            <a:ext cx="426006" cy="426006"/>
          </a:xfrm>
          <a:prstGeom prst="roundRect">
            <a:avLst>
              <a:gd name="adj" fmla="val 18670"/>
            </a:avLst>
          </a:prstGeom>
          <a:solidFill>
            <a:srgbClr val="D6F5EE"/>
          </a:solidFill>
          <a:ln w="7620">
            <a:solidFill>
              <a:srgbClr val="BCDBD4"/>
            </a:solidFill>
            <a:prstDash val="solid"/>
          </a:ln>
        </p:spPr>
        <p:txBody>
          <a:bodyPr/>
          <a:lstStyle/>
          <a:p>
            <a:endParaRPr lang="en-US">
              <a:latin typeface="Arial" panose="020B0604020202020204" pitchFamily="34" charset="0"/>
              <a:cs typeface="Arial" panose="020B0604020202020204" pitchFamily="34" charset="0"/>
            </a:endParaRPr>
          </a:p>
        </p:txBody>
      </p:sp>
      <p:sp>
        <p:nvSpPr>
          <p:cNvPr id="26" name="Text 24"/>
          <p:cNvSpPr/>
          <p:nvPr/>
        </p:nvSpPr>
        <p:spPr>
          <a:xfrm>
            <a:off x="7173218" y="5556647"/>
            <a:ext cx="283964" cy="355044"/>
          </a:xfrm>
          <a:prstGeom prst="rect">
            <a:avLst/>
          </a:prstGeom>
          <a:noFill/>
          <a:ln/>
        </p:spPr>
        <p:txBody>
          <a:bodyPr wrap="none" lIns="0" tIns="0" rIns="0" bIns="0" rtlCol="0" anchor="t"/>
          <a:lstStyle/>
          <a:p>
            <a:pPr marL="0" indent="0" algn="ctr">
              <a:lnSpc>
                <a:spcPts val="220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5</a:t>
            </a:r>
            <a:endParaRPr lang="en-US" sz="2200" dirty="0">
              <a:latin typeface="Arial" panose="020B0604020202020204" pitchFamily="34" charset="0"/>
              <a:cs typeface="Arial" panose="020B0604020202020204" pitchFamily="34" charset="0"/>
            </a:endParaRPr>
          </a:p>
        </p:txBody>
      </p:sp>
      <p:sp>
        <p:nvSpPr>
          <p:cNvPr id="27" name="Text 25"/>
          <p:cNvSpPr/>
          <p:nvPr/>
        </p:nvSpPr>
        <p:spPr>
          <a:xfrm>
            <a:off x="3527941" y="5556647"/>
            <a:ext cx="2840474" cy="355044"/>
          </a:xfrm>
          <a:prstGeom prst="rect">
            <a:avLst/>
          </a:prstGeom>
          <a:noFill/>
          <a:ln/>
        </p:spPr>
        <p:txBody>
          <a:bodyPr wrap="none" lIns="0" tIns="0" rIns="0" bIns="0" rtlCol="0" anchor="t"/>
          <a:lstStyle/>
          <a:p>
            <a:pPr marL="0" indent="0" algn="r">
              <a:lnSpc>
                <a:spcPts val="2750"/>
              </a:lnSpc>
              <a:buNone/>
            </a:pPr>
            <a:r>
              <a:rPr lang="en-US" sz="2200" b="1" dirty="0">
                <a:solidFill>
                  <a:srgbClr val="333F70"/>
                </a:solidFill>
                <a:latin typeface="Arial" panose="020B0604020202020204" pitchFamily="34" charset="0"/>
                <a:ea typeface="Unbounded Bold" pitchFamily="34" charset="-122"/>
                <a:cs typeface="Arial" panose="020B0604020202020204" pitchFamily="34" charset="0"/>
              </a:rPr>
              <a:t>Kết Luận</a:t>
            </a:r>
            <a:endParaRPr lang="en-US" sz="2200" dirty="0">
              <a:latin typeface="Arial" panose="020B0604020202020204" pitchFamily="34" charset="0"/>
              <a:cs typeface="Arial" panose="020B0604020202020204" pitchFamily="34" charset="0"/>
            </a:endParaRPr>
          </a:p>
        </p:txBody>
      </p:sp>
      <p:sp>
        <p:nvSpPr>
          <p:cNvPr id="28" name="Text 26"/>
          <p:cNvSpPr/>
          <p:nvPr/>
        </p:nvSpPr>
        <p:spPr>
          <a:xfrm>
            <a:off x="662702" y="6025277"/>
            <a:ext cx="5705713" cy="909042"/>
          </a:xfrm>
          <a:prstGeom prst="rect">
            <a:avLst/>
          </a:prstGeom>
          <a:noFill/>
          <a:ln/>
        </p:spPr>
        <p:txBody>
          <a:bodyPr wrap="square" lIns="0" tIns="0" rIns="0" bIns="0" rtlCol="0" anchor="t"/>
          <a:lstStyle/>
          <a:p>
            <a:pPr marL="0" indent="0" algn="r">
              <a:lnSpc>
                <a:spcPts val="2350"/>
              </a:lnSpc>
              <a:buNone/>
            </a:pPr>
            <a:r>
              <a:rPr lang="en-US" sz="1450" dirty="0">
                <a:solidFill>
                  <a:srgbClr val="333F70"/>
                </a:solidFill>
                <a:latin typeface="Arial" panose="020B0604020202020204" pitchFamily="34" charset="0"/>
                <a:ea typeface="Open Sans" pitchFamily="34" charset="-122"/>
                <a:cs typeface="Arial" panose="020B0604020202020204" pitchFamily="34" charset="0"/>
              </a:rPr>
              <a:t>Đồ án đã đạt được mục tiêu đề ra, là bước đệm quan trọng để phát triển kỹ năng và hiểu biết về phát triển website thương mại điện tử.</a:t>
            </a:r>
            <a:endParaRPr lang="en-US" sz="145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B04E3539-037E-701B-A08B-E2A327577B6F}"/>
              </a:ext>
            </a:extLst>
          </p:cNvPr>
          <p:cNvSpPr txBox="1"/>
          <p:nvPr/>
        </p:nvSpPr>
        <p:spPr>
          <a:xfrm>
            <a:off x="13967698" y="7730957"/>
            <a:ext cx="562341" cy="369332"/>
          </a:xfrm>
          <a:prstGeom prst="rect">
            <a:avLst/>
          </a:prstGeom>
          <a:noFill/>
        </p:spPr>
        <p:txBody>
          <a:bodyPr wrap="square" rtlCol="0">
            <a:spAutoFit/>
          </a:bodyPr>
          <a:lstStyle/>
          <a:p>
            <a:r>
              <a:rPr lang="en-US" dirty="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B2D03-BD2B-F9D9-AB37-E525B8ABAC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06F26D1-63FD-ECC6-EAAB-94ED149A0F9B}"/>
              </a:ext>
            </a:extLst>
          </p:cNvPr>
          <p:cNvSpPr/>
          <p:nvPr/>
        </p:nvSpPr>
        <p:spPr>
          <a:xfrm>
            <a:off x="1933941" y="3271562"/>
            <a:ext cx="11196431" cy="981939"/>
          </a:xfrm>
          <a:prstGeom prst="rect">
            <a:avLst/>
          </a:prstGeom>
          <a:noFill/>
          <a:ln/>
        </p:spPr>
        <p:txBody>
          <a:bodyPr wrap="none" lIns="0" tIns="0" rIns="0" bIns="0" rtlCol="0" anchor="t"/>
          <a:lstStyle/>
          <a:p>
            <a:pPr>
              <a:lnSpc>
                <a:spcPts val="4650"/>
              </a:lnSpc>
            </a:pPr>
            <a:r>
              <a:rPr lang="vi-VN" sz="8000" dirty="0"/>
              <a:t>Xin chân thành cảm ơn!</a:t>
            </a:r>
            <a:r>
              <a:rPr lang="en-US" sz="8000" b="1" dirty="0">
                <a:solidFill>
                  <a:srgbClr val="333F70"/>
                </a:solidFill>
                <a:latin typeface="Arial" panose="020B0604020202020204" pitchFamily="34" charset="0"/>
                <a:ea typeface="Unbounded Bold" pitchFamily="34" charset="-122"/>
                <a:cs typeface="Arial" panose="020B0604020202020204" pitchFamily="34" charset="0"/>
              </a:rPr>
              <a:t> </a:t>
            </a:r>
            <a:endParaRPr lang="en-US" sz="80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90C47612-0DB9-1AC7-71C3-AEC373372E26}"/>
              </a:ext>
            </a:extLst>
          </p:cNvPr>
          <p:cNvSpPr txBox="1"/>
          <p:nvPr/>
        </p:nvSpPr>
        <p:spPr>
          <a:xfrm>
            <a:off x="13994780" y="7730957"/>
            <a:ext cx="535259" cy="369332"/>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3219240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143</TotalTime>
  <Words>1360</Words>
  <Application>Microsoft Office PowerPoint</Application>
  <PresentationFormat>Custom</PresentationFormat>
  <Paragraphs>138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 Display</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Thuấn Nguyễn Duy</cp:lastModifiedBy>
  <cp:revision>41</cp:revision>
  <dcterms:created xsi:type="dcterms:W3CDTF">2025-12-08T01:23:23Z</dcterms:created>
  <dcterms:modified xsi:type="dcterms:W3CDTF">2025-12-17T14:57:54Z</dcterms:modified>
</cp:coreProperties>
</file>